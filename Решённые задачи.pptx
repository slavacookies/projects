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4.xml"/><Relationship Id="rId4" Type="http://schemas.openxmlformats.org/officeDocument/2006/relationships/image" Target="../media/image1.png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Решённые задачи</a:t>
            </a:r>
            <a:endParaRPr lang="ru-RU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>
                <a:solidFill>
                  <a:schemeClr val="tx1"/>
                </a:solidFill>
              </a:rPr>
              <a:t>Поскребышев Вячеслав</a:t>
            </a:r>
            <a:endParaRPr lang="ru-RU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ru-RU" sz="2220"/>
              <a:t>1. </a:t>
            </a:r>
            <a:r>
              <a:rPr lang="ru-RU" altLang="en-US" sz="2220"/>
              <a:t>Сколько атомов приходится на одну элементарную ячейку в кристаллах с простой гексагональной структурой</a:t>
            </a:r>
            <a:r>
              <a:rPr lang="en-US" altLang="en-US" sz="2220"/>
              <a:t>?</a:t>
            </a:r>
            <a:endParaRPr lang="en-US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N = 12 * 1/6 = 2 </a:t>
            </a:r>
            <a:r>
              <a:rPr lang="ru-RU">
                <a:solidFill>
                  <a:schemeClr val="tx1"/>
                </a:solidFill>
              </a:rPr>
              <a:t>атома. Где 12, это число атомов в гексагональной структуре, а 1</a:t>
            </a:r>
            <a:r>
              <a:rPr lang="en-US">
                <a:solidFill>
                  <a:schemeClr val="tx1"/>
                </a:solidFill>
              </a:rPr>
              <a:t>/</a:t>
            </a:r>
            <a:r>
              <a:rPr lang="ru-RU">
                <a:solidFill>
                  <a:schemeClr val="tx1"/>
                </a:solidFill>
              </a:rPr>
              <a:t>6, это сколько ячеек делят один атом, в данном случае 6 ячеек делят один атом.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 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Hexagon 3"/>
          <p:cNvSpPr/>
          <p:nvPr/>
        </p:nvSpPr>
        <p:spPr>
          <a:xfrm>
            <a:off x="5497195" y="456247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6507480" y="397827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Hexagon 5"/>
          <p:cNvSpPr/>
          <p:nvPr/>
        </p:nvSpPr>
        <p:spPr>
          <a:xfrm>
            <a:off x="6507480" y="514794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31000" y="5083175"/>
            <a:ext cx="116840" cy="1276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Hexagon 7"/>
          <p:cNvSpPr/>
          <p:nvPr/>
        </p:nvSpPr>
        <p:spPr>
          <a:xfrm>
            <a:off x="686435" y="4331970"/>
            <a:ext cx="2145665" cy="1218565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Hexagon 9"/>
          <p:cNvSpPr/>
          <p:nvPr/>
        </p:nvSpPr>
        <p:spPr>
          <a:xfrm>
            <a:off x="2518410" y="4944110"/>
            <a:ext cx="2145665" cy="1218565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Hexagon 10"/>
          <p:cNvSpPr/>
          <p:nvPr/>
        </p:nvSpPr>
        <p:spPr>
          <a:xfrm>
            <a:off x="2518410" y="3725545"/>
            <a:ext cx="2145665" cy="1218565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Hexagon 11"/>
          <p:cNvSpPr/>
          <p:nvPr/>
        </p:nvSpPr>
        <p:spPr>
          <a:xfrm>
            <a:off x="677545" y="3864610"/>
            <a:ext cx="2145665" cy="1218565"/>
          </a:xfrm>
          <a:prstGeom prst="hexagon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Hexagon 12"/>
          <p:cNvSpPr/>
          <p:nvPr/>
        </p:nvSpPr>
        <p:spPr>
          <a:xfrm>
            <a:off x="2518410" y="3260725"/>
            <a:ext cx="2145665" cy="1218565"/>
          </a:xfrm>
          <a:prstGeom prst="hexagon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Hexagon 13"/>
          <p:cNvSpPr/>
          <p:nvPr/>
        </p:nvSpPr>
        <p:spPr>
          <a:xfrm>
            <a:off x="2518410" y="4471035"/>
            <a:ext cx="2145665" cy="1218565"/>
          </a:xfrm>
          <a:prstGeom prst="hexagon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14" idx="4"/>
            <a:endCxn id="11" idx="2"/>
          </p:cNvCxnSpPr>
          <p:nvPr/>
        </p:nvCxnSpPr>
        <p:spPr>
          <a:xfrm>
            <a:off x="2823210" y="4471035"/>
            <a:ext cx="0" cy="47307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777490" y="4428490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777490" y="4895215"/>
            <a:ext cx="91440" cy="914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 sz="2220"/>
              <a:t>2. Сколько атомов приходится на одну элементарную ячейку гексагональной структуры с плотной упаковкой</a:t>
            </a:r>
            <a:r>
              <a:rPr lang="en-US" altLang="en-US" sz="2220"/>
              <a:t>?</a:t>
            </a:r>
            <a:endParaRPr lang="en-US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N = (12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x 1/6) + (2 x 1/2) + 3 = 2 + 1 + 3 = 6.</a:t>
            </a:r>
            <a:r>
              <a:rPr lang="ru-RU" altLang="en-US">
                <a:solidFill>
                  <a:schemeClr val="tx1"/>
                </a:solidFill>
              </a:rPr>
              <a:t> Первые скобки, это случай прошлой задачи. Вторые скобки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r>
              <a:rPr lang="ru-RU" altLang="en-US">
                <a:solidFill>
                  <a:schemeClr val="tx1"/>
                </a:solidFill>
              </a:rPr>
              <a:t> так как для ГПУ есть атомы в центре верхней и нижней грани, то 2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это количество таких атомов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; 1/2 </a:t>
            </a:r>
            <a:r>
              <a:rPr lang="en-US" altLang="ru-RU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это колличество граней, которые делят один атом, находящийся в центре граней и ко всему этому добавляются 3 атома, которые находятся внутри ГПУ ячейки.</a:t>
            </a:r>
            <a:endParaRPr lang="ru-RU" altLang="ru-RU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</p:txBody>
      </p:sp>
      <p:sp>
        <p:nvSpPr>
          <p:cNvPr id="4" name="Hexagon 3"/>
          <p:cNvSpPr/>
          <p:nvPr/>
        </p:nvSpPr>
        <p:spPr>
          <a:xfrm>
            <a:off x="5497195" y="456247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6507480" y="397827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Hexagon 5"/>
          <p:cNvSpPr/>
          <p:nvPr/>
        </p:nvSpPr>
        <p:spPr>
          <a:xfrm>
            <a:off x="6507480" y="5147945"/>
            <a:ext cx="1296670" cy="116967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731000" y="5083175"/>
            <a:ext cx="116840" cy="12763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087110" y="5082540"/>
            <a:ext cx="116840" cy="127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097395" y="4498975"/>
            <a:ext cx="116840" cy="127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097395" y="5669280"/>
            <a:ext cx="116840" cy="1276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Hexagon 10"/>
          <p:cNvSpPr/>
          <p:nvPr/>
        </p:nvSpPr>
        <p:spPr>
          <a:xfrm>
            <a:off x="2579370" y="4754880"/>
            <a:ext cx="1540510" cy="1278890"/>
          </a:xfrm>
          <a:prstGeom prst="hexagon">
            <a:avLst/>
          </a:prstGeom>
          <a:solidFill>
            <a:schemeClr val="bg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303905" y="5348605"/>
            <a:ext cx="91440" cy="914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Hexagon 20"/>
          <p:cNvSpPr/>
          <p:nvPr/>
        </p:nvSpPr>
        <p:spPr>
          <a:xfrm>
            <a:off x="2579370" y="4506595"/>
            <a:ext cx="1541145" cy="1278890"/>
          </a:xfrm>
          <a:prstGeom prst="hexagon">
            <a:avLst/>
          </a:prstGeom>
          <a:noFill/>
          <a:ln>
            <a:solidFill>
              <a:srgbClr val="FF0000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303905" y="5083175"/>
            <a:ext cx="91440" cy="914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3350260" y="5174615"/>
            <a:ext cx="0" cy="17399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1137285"/>
          </a:xfrm>
        </p:spPr>
        <p:txBody>
          <a:bodyPr>
            <a:normAutofit fontScale="90000"/>
          </a:bodyPr>
          <a:p>
            <a:r>
              <a:rPr lang="ru-RU" altLang="en-US" sz="2220"/>
              <a:t>3. Определить число элементарных ячеек в единице объёма кристалла хлористого цезия с простой кубической ячейкой. Плотность кристалла равна 3970 кг</a:t>
            </a:r>
            <a:r>
              <a:rPr lang="en-US" altLang="en-US" sz="2220"/>
              <a:t>/</a:t>
            </a:r>
            <a:r>
              <a:rPr lang="ru-RU" altLang="en-US" sz="2220"/>
              <a:t>м</a:t>
            </a:r>
            <a:r>
              <a:rPr lang="en-US" altLang="en-US" sz="2220"/>
              <a:t>^</a:t>
            </a:r>
            <a:r>
              <a:rPr lang="ru-RU" altLang="en-US" sz="2220"/>
              <a:t>3, молярная масса </a:t>
            </a:r>
            <a:r>
              <a:rPr lang="en-US" altLang="en-US" sz="2220"/>
              <a:t>0,168 </a:t>
            </a:r>
            <a:r>
              <a:rPr lang="ru-RU" altLang="en-US" sz="2220"/>
              <a:t>кг</a:t>
            </a:r>
            <a:r>
              <a:rPr lang="en-US" altLang="en-US" sz="2220"/>
              <a:t>/</a:t>
            </a:r>
            <a:r>
              <a:rPr lang="ru-RU" altLang="en-US" sz="2220"/>
              <a:t>моль.</a:t>
            </a:r>
            <a:endParaRPr lang="ru-RU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010410"/>
            <a:ext cx="10968990" cy="4239260"/>
          </a:xfrm>
        </p:spPr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Структура </a:t>
            </a:r>
            <a:r>
              <a:rPr lang="en-US" altLang="en-US">
                <a:solidFill>
                  <a:schemeClr val="tx1"/>
                </a:solidFill>
              </a:rPr>
              <a:t>ClCs </a:t>
            </a:r>
            <a:r>
              <a:rPr lang="en-US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－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это кубическая ячейка, где в вершинах ионы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Cl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, а в центре ион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Cs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.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Сначала считаем сколько формульных единиц(молекул) приходится на одну ячейку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: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Cl = 8 x 1/8 = 1; Cs = 1 x 1 = 1 =&gt; N = 1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.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Плотность любого вещества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p = m_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яч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/ V_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яч. Так как </a:t>
            </a:r>
            <a:r>
              <a:rPr lang="en-US" altLang="ru-RU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N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= 1,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то 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m_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яч =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M / N_A; M </a:t>
            </a:r>
            <a:r>
              <a:rPr lang="en-US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это молярная масса, а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N_A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 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постоянная Авогадро.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Объём одной ячейки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V_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яч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= 1 / n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, где </a:t>
            </a: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n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</a:t>
            </a:r>
            <a:r>
              <a:rPr lang="ru-RU" altLang="en-US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  <a:cs typeface="+mj-lt"/>
              </a:rPr>
              <a:t>－</a:t>
            </a:r>
            <a:r>
              <a:rPr lang="ru-RU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 число всех ячеек в кристалле.</a:t>
            </a:r>
            <a:endParaRPr lang="ru-RU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p = (M / N_A) / (1 / n) = (n x M) / N_A =&gt; n = (p x N_A) / M</a:t>
            </a:r>
            <a:endParaRPr lang="en-US" altLang="en-US">
              <a:solidFill>
                <a:schemeClr val="tx1"/>
              </a:solidFill>
              <a:latin typeface="+mj-lt"/>
              <a:ea typeface="SimSun" panose="02010600030101010101" pitchFamily="2" charset="-122"/>
              <a:cs typeface="+mj-lt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+mj-lt"/>
                <a:ea typeface="SimSun" panose="02010600030101010101" pitchFamily="2" charset="-122"/>
                <a:cs typeface="+mj-lt"/>
              </a:rPr>
              <a:t>n = (3970 x 6,022 x 10^23) / 0,168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≈ 14,23 x 10^27 ≈ 1,42 x 10^28 m^(-3) 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Ответ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: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n 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≈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1,42 x 10^28 m^(-3).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1071245"/>
          </a:xfrm>
        </p:spPr>
        <p:txBody>
          <a:bodyPr>
            <a:normAutofit fontScale="90000"/>
          </a:bodyPr>
          <a:p>
            <a:r>
              <a:rPr lang="ru-RU" altLang="en-US" sz="2220"/>
              <a:t>4. Определить число элементарных ячеек в единице объёма кристалла меди, который имеет ГЦК-ячейку. Плотность и прекрасная массиа равны 8930 кг</a:t>
            </a:r>
            <a:r>
              <a:rPr lang="en-US" altLang="en-US" sz="2220"/>
              <a:t>/</a:t>
            </a:r>
            <a:r>
              <a:rPr lang="ru-RU" altLang="en-US" sz="2220"/>
              <a:t>м</a:t>
            </a:r>
            <a:r>
              <a:rPr lang="en-US" altLang="en-US" sz="2220"/>
              <a:t>^</a:t>
            </a:r>
            <a:r>
              <a:rPr lang="ru-RU" altLang="en-US" sz="2220"/>
              <a:t>3 и 0,064 кг</a:t>
            </a:r>
            <a:r>
              <a:rPr lang="en-US" altLang="en-US" sz="2220"/>
              <a:t>/</a:t>
            </a:r>
            <a:r>
              <a:rPr lang="ru-RU" altLang="en-US" sz="2220"/>
              <a:t>моль соответственно. </a:t>
            </a:r>
            <a:endParaRPr lang="ru-RU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933575"/>
            <a:ext cx="10968990" cy="4316095"/>
          </a:xfrm>
        </p:spPr>
        <p:txBody>
          <a:bodyPr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Находим число атомов принадлежащих одной ячейке(Гранецентрированной Кубической Решётке)</a:t>
            </a:r>
            <a:r>
              <a:rPr lang="en-US">
                <a:solidFill>
                  <a:schemeClr val="tx1"/>
                </a:solidFill>
              </a:rPr>
              <a:t>: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N = (8 x 1/8) + (6 x 1/2) = 1 + 3 = 4 =&gt; m_</a:t>
            </a:r>
            <a:r>
              <a:rPr lang="ru-RU">
                <a:solidFill>
                  <a:schemeClr val="tx1"/>
                </a:solidFill>
              </a:rPr>
              <a:t>яч </a:t>
            </a:r>
            <a:r>
              <a:rPr lang="en-US">
                <a:solidFill>
                  <a:schemeClr val="tx1"/>
                </a:solidFill>
              </a:rPr>
              <a:t>= (4 x M) / N_A =&gt; p = m_</a:t>
            </a:r>
            <a:r>
              <a:rPr lang="ru-RU">
                <a:solidFill>
                  <a:schemeClr val="tx1"/>
                </a:solidFill>
              </a:rPr>
              <a:t>яч</a:t>
            </a:r>
            <a:r>
              <a:rPr lang="en-US" alt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/ V_</a:t>
            </a:r>
            <a:r>
              <a:rPr lang="ru-RU" altLang="en-US">
                <a:solidFill>
                  <a:schemeClr val="tx1"/>
                </a:solidFill>
              </a:rPr>
              <a:t>яч</a:t>
            </a:r>
            <a:r>
              <a:rPr lang="en-US" altLang="ru-RU">
                <a:solidFill>
                  <a:schemeClr val="tx1"/>
                </a:solidFill>
              </a:rPr>
              <a:t> =&gt;</a:t>
            </a:r>
            <a:endParaRPr lang="en-US" alt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ru-RU">
                <a:solidFill>
                  <a:schemeClr val="tx1"/>
                </a:solidFill>
              </a:rPr>
              <a:t>p = (4 x M x n) / N_A =&gt; n = (p x N_A) / (4 x M) =&gt;</a:t>
            </a:r>
            <a:endParaRPr lang="en-US" alt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ru-RU">
                <a:solidFill>
                  <a:schemeClr val="tx1"/>
                </a:solidFill>
              </a:rPr>
              <a:t>n = (8930 x 6,022 x 10^23) / (4 x 0,064) = 5,378 x 10^27 / 0,256 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21,0 x 10^27 =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2,1 x 10^28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≈ 2,1 x 10^28. </a:t>
            </a:r>
            <a:endParaRPr lang="en-US" altLang="ru-RU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1090930"/>
          </a:xfrm>
        </p:spPr>
        <p:txBody>
          <a:bodyPr>
            <a:normAutofit fontScale="90000"/>
          </a:bodyPr>
          <a:p>
            <a:r>
              <a:rPr lang="ru-RU" altLang="en-US" sz="2220"/>
              <a:t>5. Вычислить плотность кадмия, который имеет плотноупакованную гексагональную структуру с постоянными элементарной ячейки</a:t>
            </a:r>
            <a:r>
              <a:rPr lang="en-US" altLang="en-US" sz="2220"/>
              <a:t>:</a:t>
            </a:r>
            <a:r>
              <a:rPr lang="ru-RU" altLang="en-US" sz="2220"/>
              <a:t> </a:t>
            </a:r>
            <a:r>
              <a:rPr lang="en-US" altLang="en-US" sz="2220"/>
              <a:t>a = 0,297 </a:t>
            </a:r>
            <a:r>
              <a:rPr lang="ru-RU" altLang="en-US" sz="2220"/>
              <a:t>и</a:t>
            </a:r>
            <a:r>
              <a:rPr lang="en-US" altLang="en-US" sz="2220"/>
              <a:t> c = 0,561 </a:t>
            </a:r>
            <a:r>
              <a:rPr lang="ru-RU" altLang="en-US" sz="2220"/>
              <a:t>нм</a:t>
            </a:r>
            <a:r>
              <a:rPr lang="en-US" altLang="en-US" sz="2220"/>
              <a:t>. M = </a:t>
            </a:r>
            <a:r>
              <a:rPr lang="ru-RU" altLang="en-US" sz="2220"/>
              <a:t>0,112 кг</a:t>
            </a:r>
            <a:r>
              <a:rPr lang="en-US" altLang="en-US" sz="2220"/>
              <a:t>/</a:t>
            </a:r>
            <a:r>
              <a:rPr lang="ru-RU" altLang="en-US" sz="2220"/>
              <a:t>моль.</a:t>
            </a:r>
            <a:endParaRPr lang="ru-RU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966595"/>
            <a:ext cx="10968990" cy="4283075"/>
          </a:xfrm>
        </p:spPr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Ищем число атомов в одной ячейке(ГПУ-ячейке)</a:t>
            </a:r>
            <a:r>
              <a:rPr lang="en-US" altLang="en-US">
                <a:solidFill>
                  <a:schemeClr val="tx1"/>
                </a:solidFill>
              </a:rPr>
              <a:t>: N = </a:t>
            </a:r>
            <a:r>
              <a:rPr lang="ru-RU" altLang="en-US">
                <a:solidFill>
                  <a:schemeClr val="tx1"/>
                </a:solidFill>
              </a:rPr>
              <a:t>(12 </a:t>
            </a:r>
            <a:r>
              <a:rPr lang="en-US" altLang="en-US">
                <a:solidFill>
                  <a:schemeClr val="tx1"/>
                </a:solidFill>
              </a:rPr>
              <a:t>x</a:t>
            </a:r>
            <a:r>
              <a:rPr lang="ru-RU" altLang="en-US">
                <a:solidFill>
                  <a:schemeClr val="tx1"/>
                </a:solidFill>
              </a:rPr>
              <a:t> 1</a:t>
            </a:r>
            <a:r>
              <a:rPr lang="en-US" altLang="en-US">
                <a:solidFill>
                  <a:schemeClr val="tx1"/>
                </a:solidFill>
              </a:rPr>
              <a:t>/6</a:t>
            </a:r>
            <a:r>
              <a:rPr lang="ru-RU" altLang="en-US">
                <a:solidFill>
                  <a:schemeClr val="tx1"/>
                </a:solidFill>
              </a:rPr>
              <a:t>) + (2 </a:t>
            </a:r>
            <a:r>
              <a:rPr lang="en-US" altLang="en-US">
                <a:solidFill>
                  <a:schemeClr val="tx1"/>
                </a:solidFill>
              </a:rPr>
              <a:t>x</a:t>
            </a:r>
            <a:r>
              <a:rPr lang="ru-RU" altLang="en-US">
                <a:solidFill>
                  <a:schemeClr val="tx1"/>
                </a:solidFill>
              </a:rPr>
              <a:t> 1</a:t>
            </a:r>
            <a:r>
              <a:rPr lang="en-US" altLang="en-US">
                <a:solidFill>
                  <a:schemeClr val="tx1"/>
                </a:solidFill>
              </a:rPr>
              <a:t>/</a:t>
            </a:r>
            <a:r>
              <a:rPr lang="ru-RU" altLang="en-US">
                <a:solidFill>
                  <a:schemeClr val="tx1"/>
                </a:solidFill>
              </a:rPr>
              <a:t>2) + 3 = 6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Так как в основании шестиуголник, то объём шестиугольной призмы</a:t>
            </a:r>
            <a:r>
              <a:rPr lang="en-US" altLang="en-US">
                <a:solidFill>
                  <a:schemeClr val="tx1"/>
                </a:solidFill>
              </a:rPr>
              <a:t>: 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V_</a:t>
            </a:r>
            <a:r>
              <a:rPr lang="ru-RU" altLang="en-US">
                <a:solidFill>
                  <a:schemeClr val="tx1"/>
                </a:solidFill>
              </a:rPr>
              <a:t>яч = </a:t>
            </a:r>
            <a:r>
              <a:rPr lang="en-US" altLang="ru-RU">
                <a:solidFill>
                  <a:schemeClr val="tx1"/>
                </a:solidFill>
              </a:rPr>
              <a:t>(</a:t>
            </a:r>
            <a:r>
              <a:rPr lang="en-US" altLang="en-US">
                <a:solidFill>
                  <a:schemeClr val="tx1"/>
                </a:solidFill>
              </a:rPr>
              <a:t>3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√3 / 2) x a^2 x c =&gt; p = m_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яч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V_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яч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(Z x M) / (N_A x V_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яч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= 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(6 x 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0,112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(6,022 x 10^23 x (3√3 / 2) x 0,297^2 x 0,561) =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(6 x 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0,112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/ (6,022 x 10^23 x 1,286 x 10^(-28)) = 0,672 / 7,74 x 10^(-5) ≈ 8680 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кг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^3 </a:t>
            </a:r>
            <a:endParaRPr lang="en-US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Ответ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 = 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8680 кг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lang="en-US" altLang="ru-RU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^3</a:t>
            </a:r>
            <a:r>
              <a:rPr lang="ru-RU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ru-RU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1123315"/>
          </a:xfrm>
        </p:spPr>
        <p:txBody>
          <a:bodyPr>
            <a:normAutofit/>
          </a:bodyPr>
          <a:p>
            <a:r>
              <a:rPr lang="ru-RU" altLang="en-US" sz="2000"/>
              <a:t>6. Плотность кристалла бериллия равна 1820 кг</a:t>
            </a:r>
            <a:r>
              <a:rPr lang="en-US" altLang="en-US" sz="2000"/>
              <a:t>/</a:t>
            </a:r>
            <a:r>
              <a:rPr lang="ru-RU" altLang="en-US" sz="2000"/>
              <a:t>м</a:t>
            </a:r>
            <a:r>
              <a:rPr lang="en-US" altLang="en-US" sz="2000"/>
              <a:t>^3</a:t>
            </a:r>
            <a:r>
              <a:rPr lang="ru-RU" altLang="en-US" sz="2000"/>
              <a:t>. Вычислить постоянную решётки бериллия, который имеет гексагональную структуру с плотной упаковкой. </a:t>
            </a:r>
            <a:endParaRPr lang="ru-RU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608330" y="1851660"/>
                <a:ext cx="10968990" cy="4398010"/>
              </a:xfrm>
            </p:spPr>
            <p:txBody>
              <a:bodyPr/>
              <a:p>
                <a:pPr marL="0" indent="0">
                  <a:buNone/>
                </a:pPr>
                <a:r>
                  <a:rPr lang="ru-RU" altLang="en-US">
                    <a:solidFill>
                      <a:schemeClr val="tx1"/>
                    </a:solidFill>
                  </a:rPr>
                  <a:t>Имеем две неизвестные </a:t>
                </a:r>
                <a:r>
                  <a:rPr lang="en-US" altLang="en-US">
                    <a:solidFill>
                      <a:schemeClr val="tx1"/>
                    </a:solidFill>
                  </a:rPr>
                  <a:t>a</a:t>
                </a:r>
                <a:r>
                  <a:rPr lang="ru-RU" altLang="en-US">
                    <a:solidFill>
                      <a:schemeClr val="tx1"/>
                    </a:solidFill>
                  </a:rPr>
                  <a:t> и </a:t>
                </a:r>
                <a:r>
                  <a:rPr lang="en-US" altLang="en-US">
                    <a:solidFill>
                      <a:schemeClr val="tx1"/>
                    </a:solidFill>
                  </a:rPr>
                  <a:t>c</a:t>
                </a:r>
                <a:r>
                  <a:rPr lang="ru-RU" altLang="en-US">
                    <a:solidFill>
                      <a:schemeClr val="tx1"/>
                    </a:solidFill>
                  </a:rPr>
                  <a:t>, в ГПУ они связаны следующим образом</a:t>
                </a:r>
                <a:r>
                  <a:rPr lang="en-US" altLang="en-US">
                    <a:solidFill>
                      <a:schemeClr val="tx1"/>
                    </a:solidFill>
                  </a:rPr>
                  <a:t>:</a:t>
                </a:r>
                <a:r>
                  <a:rPr lang="ru-RU" altLang="en-US">
                    <a:solidFill>
                      <a:schemeClr val="tx1"/>
                    </a:solidFill>
                  </a:rPr>
                  <a:t> </a:t>
                </a:r>
                <a:endParaRPr lang="ru-RU" altLang="en-US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</a:rPr>
                  <a:t>c / a = </a:t>
                </a:r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√(8 / 3) ≈ 1,633 =&gt; c = 1,633 x a. V_</a:t>
                </a:r>
                <a:r>
                  <a:rPr lang="ru-RU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яч = </a:t>
                </a: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3√3 / 2) x a^2 x (√(8 / 3) x a) =</a:t>
                </a:r>
                <a:endParaRPr lang="en-US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((3√3 x 2√2) / (2 x √3)) x a^3 = 3√2 x a^3 =&gt; p = (Z x M) / (N_A x 3√2 x a^3) =&gt;</a:t>
                </a:r>
                <a:endParaRPr lang="en-US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a^3 = (Z x M) / (N_A x 3√2 x p) =&gt; a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deg>
                      <m:e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𝑍∗𝑀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 / (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√2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𝑁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𝐴∗𝑝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 </m:t>
                        </m:r>
                      </m:e>
                    </m:rad>
                  </m:oMath>
                </a14:m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=&gt;</a:t>
                </a:r>
                <a:endParaRPr lang="en-US" altLang="ru-RU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a^3 = 0.054 / (4,65 x 10^27) ≈ 1,16 x 10^(-29) </a:t>
                </a:r>
                <a:r>
                  <a:rPr lang="ru-RU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</a:t>
                </a: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^3 =&gt; </a:t>
                </a:r>
                <a:endParaRPr lang="en-US" altLang="ru-RU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=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</m:t>
                        </m:r>
                      </m:deg>
                      <m:e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11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^(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30</m:t>
                        </m:r>
                        <m:r>
                          <a:rPr lang="en-US" altLang="ru-RU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≈ 2,26 * 10^(-10) </a:t>
                </a:r>
                <a:r>
                  <a:rPr lang="ru-RU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м = 0.226 нм</a:t>
                </a:r>
                <a:endParaRPr lang="ru-RU" altLang="ru-RU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= 1.633 x a = 1.633 x 0.226 ≈ 0,369 </a:t>
                </a:r>
                <a:r>
                  <a:rPr lang="ru-RU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нм.</a:t>
                </a:r>
                <a:endParaRPr lang="ru-RU" altLang="ru-RU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Ответ</a:t>
                </a:r>
                <a:r>
                  <a:rPr lang="en-US" altLang="ru-RU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a ≈ 0,226 </a:t>
                </a:r>
                <a:r>
                  <a:rPr lang="ru-RU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нм</a:t>
                </a:r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c </a:t>
                </a:r>
                <a:r>
                  <a:rPr lang="ru-RU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≈ </a:t>
                </a:r>
                <a:r>
                  <a:rPr lang="en-US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0,369</a:t>
                </a:r>
                <a:r>
                  <a:rPr lang="ru-RU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нм. </a:t>
                </a:r>
                <a:endParaRPr lang="ru-RU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3"/>
                </p:custDataLst>
              </p:nvPr>
            </p:nvSpPr>
            <p:spPr>
              <a:xfrm>
                <a:off x="608330" y="1851660"/>
                <a:ext cx="10968990" cy="4398010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728345"/>
          </a:xfrm>
        </p:spPr>
        <p:txBody>
          <a:bodyPr>
            <a:normAutofit fontScale="90000"/>
          </a:bodyPr>
          <a:p>
            <a:r>
              <a:rPr lang="ru-RU" altLang="en-US" sz="2220"/>
              <a:t>7. Определить Миллеровские индексы плотности, отсекающие на осях координат отрезки </a:t>
            </a:r>
            <a:r>
              <a:rPr lang="en-US" altLang="en-US" sz="2220"/>
              <a:t>4a, 3b, 2c.</a:t>
            </a:r>
            <a:endParaRPr lang="en-US" altLang="en-US" sz="222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614170"/>
            <a:ext cx="10968990" cy="46355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Плокость отсекает на осях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На оси </a:t>
            </a:r>
            <a:r>
              <a:rPr lang="en-US" altLang="en-US">
                <a:solidFill>
                  <a:schemeClr val="tx1"/>
                </a:solidFill>
              </a:rPr>
              <a:t>x </a:t>
            </a:r>
            <a:r>
              <a:rPr lang="ru-RU" altLang="en-US">
                <a:solidFill>
                  <a:schemeClr val="tx1"/>
                </a:solidFill>
              </a:rPr>
              <a:t>отрезок </a:t>
            </a:r>
            <a:r>
              <a:rPr lang="en-US" altLang="en-US">
                <a:solidFill>
                  <a:schemeClr val="tx1"/>
                </a:solidFill>
              </a:rPr>
              <a:t>4a;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На оси </a:t>
            </a:r>
            <a:r>
              <a:rPr lang="en-US" altLang="en-US">
                <a:solidFill>
                  <a:schemeClr val="tx1"/>
                </a:solidFill>
              </a:rPr>
              <a:t>y </a:t>
            </a:r>
            <a:r>
              <a:rPr lang="ru-RU" altLang="en-US">
                <a:solidFill>
                  <a:schemeClr val="tx1"/>
                </a:solidFill>
              </a:rPr>
              <a:t>отрезок </a:t>
            </a:r>
            <a:r>
              <a:rPr lang="en-US" altLang="en-US">
                <a:solidFill>
                  <a:schemeClr val="tx1"/>
                </a:solidFill>
              </a:rPr>
              <a:t>3b;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На оси </a:t>
            </a:r>
            <a:r>
              <a:rPr lang="en-US" altLang="en-US">
                <a:solidFill>
                  <a:schemeClr val="tx1"/>
                </a:solidFill>
              </a:rPr>
              <a:t>z </a:t>
            </a:r>
            <a:r>
              <a:rPr lang="ru-RU" altLang="en-US">
                <a:solidFill>
                  <a:schemeClr val="tx1"/>
                </a:solidFill>
              </a:rPr>
              <a:t>отрезок 2</a:t>
            </a:r>
            <a:r>
              <a:rPr lang="en-US" altLang="en-US">
                <a:solidFill>
                  <a:schemeClr val="tx1"/>
                </a:solidFill>
              </a:rPr>
              <a:t>c.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Запишем (4, 3, 2)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Берём обратные величины от отсекаемых отрезков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r>
              <a:rPr lang="ru-RU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1/4, 1/3, 1/2.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Так как Миллеровские индексы должны быть целыми числами, то находим НОК знаменателей, НОК(4, 3, 2) = 12 и умножаем все дроби на 12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1/4 x 12 = 3; 1/3 x 12 = 4; 1/2 x 12 = 6</a:t>
            </a:r>
            <a:r>
              <a:rPr lang="ru-RU" altLang="en-US">
                <a:solidFill>
                  <a:schemeClr val="tx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=&gt;</a:t>
            </a:r>
            <a:r>
              <a:rPr lang="ru-RU" altLang="en-US">
                <a:solidFill>
                  <a:schemeClr val="tx1"/>
                </a:solidFill>
              </a:rPr>
              <a:t> (346).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Ответ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r>
              <a:rPr lang="ru-RU" altLang="en-US">
                <a:solidFill>
                  <a:schemeClr val="tx1"/>
                </a:solidFill>
              </a:rPr>
              <a:t> (346). </a:t>
            </a:r>
            <a:endParaRPr lang="ru-RU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3675</Words>
  <Application>WPS Presentation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Cambria Math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Решённые задачи</dc:title>
  <dc:creator>User</dc:creator>
  <cp:lastModifiedBy>DokToP BoT</cp:lastModifiedBy>
  <cp:revision>1</cp:revision>
  <dcterms:created xsi:type="dcterms:W3CDTF">2026-10-11T13:57:32Z</dcterms:created>
  <dcterms:modified xsi:type="dcterms:W3CDTF">2026-10-11T13:57:32Z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6B63A35EDE55453FAD61D86B40D0F21A_11</vt:lpwstr>
  </property>
</Properties>
</file>