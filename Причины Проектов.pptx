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ru-RU" altLang="en-US"/>
              <a:t>Почему проекты проваливаются</a:t>
            </a:r>
            <a:r>
              <a:rPr lang="en-US" altLang="en-US"/>
              <a:t>?</a:t>
            </a:r>
            <a:r>
              <a:rPr lang="ru-RU" altLang="en-US"/>
              <a:t> 5 самых частых причин</a:t>
            </a:r>
            <a:endParaRPr lang="ru-RU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ru-RU" altLang="en-US">
                <a:solidFill>
                  <a:schemeClr val="tx1"/>
                </a:solidFill>
              </a:rPr>
              <a:t>Поскребышев Вячеслав</a:t>
            </a:r>
            <a:endParaRPr lang="ru-RU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/>
              <a:t>Доля провальных проектов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ru-RU" altLang="en-US">
                <a:solidFill>
                  <a:schemeClr val="tx1"/>
                </a:solidFill>
              </a:rPr>
              <a:t>Киноиндустрия </a:t>
            </a:r>
            <a:r>
              <a:rPr lang="ru-RU" altLang="en-US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－ </a:t>
            </a:r>
            <a:r>
              <a:rPr lang="ru-RU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89-95% фильмов, снятых при господдержке</a:t>
            </a:r>
            <a:endParaRPr lang="ru-RU" altLang="en-US">
              <a:solidFill>
                <a:schemeClr val="tx1"/>
              </a:solidFill>
              <a:latin typeface="+mj-lt"/>
              <a:ea typeface="SimSun" panose="02010600030101010101" pitchFamily="2" charset="-122"/>
              <a:cs typeface="+mj-lt"/>
            </a:endParaRPr>
          </a:p>
          <a:p>
            <a:r>
              <a:rPr lang="ru-RU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ИТ-проекты </a:t>
            </a:r>
            <a:r>
              <a:rPr lang="ru-RU" altLang="en-US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  <a:cs typeface="+mj-lt"/>
              </a:rPr>
              <a:t>－ </a:t>
            </a:r>
            <a:r>
              <a:rPr lang="ru-RU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83,8% частичные или полные неудачи</a:t>
            </a:r>
            <a:endParaRPr lang="ru-RU" altLang="en-US">
              <a:solidFill>
                <a:schemeClr val="tx1"/>
              </a:solidFill>
              <a:latin typeface="+mj-lt"/>
              <a:ea typeface="SimSun" panose="02010600030101010101" pitchFamily="2" charset="-122"/>
              <a:cs typeface="+mj-lt"/>
            </a:endParaRPr>
          </a:p>
          <a:p>
            <a:r>
              <a:rPr lang="en-US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Организационные преобразования и цифровая трансформация</a:t>
            </a:r>
            <a:r>
              <a:rPr lang="ru-RU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 </a:t>
            </a:r>
            <a:r>
              <a:rPr lang="ru-RU" altLang="en-US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  <a:cs typeface="+mj-lt"/>
              </a:rPr>
              <a:t>－ </a:t>
            </a:r>
            <a:r>
              <a:rPr lang="ru-RU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60-70%</a:t>
            </a:r>
            <a:endParaRPr lang="ru-RU" altLang="en-US">
              <a:solidFill>
                <a:schemeClr val="tx1"/>
              </a:solidFill>
              <a:latin typeface="+mj-lt"/>
              <a:ea typeface="SimSun" panose="02010600030101010101" pitchFamily="2" charset="-122"/>
              <a:cs typeface="+mj-lt"/>
            </a:endParaRPr>
          </a:p>
          <a:p>
            <a:r>
              <a:rPr lang="ru-RU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Проекты в области ИИ </a:t>
            </a:r>
            <a:r>
              <a:rPr lang="ru-RU" altLang="en-US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  <a:cs typeface="+mj-lt"/>
              </a:rPr>
              <a:t>－ </a:t>
            </a:r>
            <a:r>
              <a:rPr lang="ru-RU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80,3%</a:t>
            </a:r>
            <a:endParaRPr lang="ru-RU" altLang="en-US">
              <a:solidFill>
                <a:schemeClr val="tx1"/>
              </a:solidFill>
              <a:latin typeface="+mj-lt"/>
              <a:ea typeface="SimSun" panose="02010600030101010101" pitchFamily="2" charset="-122"/>
              <a:cs typeface="+mj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/>
              <a:t>1. Неверная цель и видение проекта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ru-RU" altLang="en-US" sz="1900">
                <a:solidFill>
                  <a:schemeClr val="tx1"/>
                </a:solidFill>
              </a:rPr>
              <a:t>Цель сформулирована абстрактно или содержит скрытые цели, о которых становится известно уже после</a:t>
            </a:r>
            <a:endParaRPr lang="ru-RU" altLang="en-US" sz="1900">
              <a:solidFill>
                <a:schemeClr val="tx1"/>
              </a:solidFill>
            </a:endParaRPr>
          </a:p>
          <a:p>
            <a:r>
              <a:rPr lang="ru-RU" altLang="en-US" sz="1900">
                <a:solidFill>
                  <a:schemeClr val="tx1"/>
                </a:solidFill>
              </a:rPr>
              <a:t>Проект приносит результаты, которые нужны лишь малому числу заинтересованных лиц, либо почти не имеет ценности.</a:t>
            </a:r>
            <a:endParaRPr lang="ru-RU" altLang="en-US" sz="1900">
              <a:solidFill>
                <a:schemeClr val="tx1"/>
              </a:solidFill>
            </a:endParaRPr>
          </a:p>
          <a:p>
            <a:r>
              <a:rPr lang="ru-RU" altLang="en-US" sz="1900">
                <a:solidFill>
                  <a:schemeClr val="tx1"/>
                </a:solidFill>
              </a:rPr>
              <a:t>Проект не приносит желаемых выгод, потому что их трудно достичь</a:t>
            </a:r>
            <a:endParaRPr lang="ru-RU" altLang="en-US" sz="1900">
              <a:solidFill>
                <a:schemeClr val="tx1"/>
              </a:solidFill>
            </a:endParaRPr>
          </a:p>
          <a:p>
            <a:endParaRPr lang="ru-RU" altLang="en-US" sz="1900">
              <a:solidFill>
                <a:schemeClr val="tx1"/>
              </a:solidFill>
            </a:endParaRPr>
          </a:p>
          <a:p>
            <a:endParaRPr lang="ru-RU" altLang="en-US" sz="1900">
              <a:solidFill>
                <a:schemeClr val="tx1"/>
              </a:solidFill>
            </a:endParaRPr>
          </a:p>
          <a:p>
            <a:r>
              <a:rPr lang="ru-RU" altLang="en-US" sz="1900">
                <a:solidFill>
                  <a:schemeClr val="tx1"/>
                </a:solidFill>
              </a:rPr>
              <a:t>Пример</a:t>
            </a:r>
            <a:r>
              <a:rPr lang="en-US" altLang="en-US" sz="1900">
                <a:solidFill>
                  <a:schemeClr val="tx1"/>
                </a:solidFill>
              </a:rPr>
              <a:t>:</a:t>
            </a:r>
            <a:r>
              <a:rPr lang="ru-RU" altLang="en-US" sz="1900">
                <a:solidFill>
                  <a:schemeClr val="tx1"/>
                </a:solidFill>
              </a:rPr>
              <a:t> </a:t>
            </a:r>
            <a:r>
              <a:rPr lang="en-US" altLang="en-US" sz="1900">
                <a:solidFill>
                  <a:schemeClr val="tx1"/>
                </a:solidFill>
              </a:rPr>
              <a:t>«Мост в никуда» на Аляске стоимостью $223 млн должен был соединить город с 8 тыс. жителей с отдаленным островом, где живет всего 50 человек (впоследствии проект отменили).</a:t>
            </a:r>
            <a:endParaRPr lang="en-US" altLang="en-US" sz="19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ru-RU" altLang="en-US"/>
              <a:t>2. Неэффективное руководство и управление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ru-RU" altLang="en-US">
                <a:solidFill>
                  <a:schemeClr val="tx1"/>
                </a:solidFill>
              </a:rPr>
              <a:t>Отсутствие заинтересованного руководителя проекта, который бы боролся за проект от начала и до конца</a:t>
            </a:r>
            <a:endParaRPr lang="ru-RU" altLang="en-US">
              <a:solidFill>
                <a:schemeClr val="tx1"/>
              </a:solidFill>
            </a:endParaRPr>
          </a:p>
          <a:p>
            <a:r>
              <a:rPr lang="ru-RU" altLang="en-US">
                <a:solidFill>
                  <a:schemeClr val="tx1"/>
                </a:solidFill>
              </a:rPr>
              <a:t>Проект-менеджер не контролирует процесс, не решает возникающие проблемы</a:t>
            </a:r>
            <a:endParaRPr lang="ru-RU" altLang="en-US">
              <a:solidFill>
                <a:schemeClr val="tx1"/>
              </a:solidFill>
            </a:endParaRPr>
          </a:p>
          <a:p>
            <a:r>
              <a:rPr lang="ru-RU" altLang="en-US">
                <a:solidFill>
                  <a:schemeClr val="tx1"/>
                </a:solidFill>
              </a:rPr>
              <a:t>Команда не мотивирована</a:t>
            </a:r>
            <a:endParaRPr lang="ru-RU" altLang="en-US">
              <a:solidFill>
                <a:schemeClr val="tx1"/>
              </a:solidFill>
            </a:endParaRPr>
          </a:p>
          <a:p>
            <a:endParaRPr lang="ru-RU" altLang="en-US">
              <a:solidFill>
                <a:schemeClr val="tx1"/>
              </a:solidFill>
            </a:endParaRPr>
          </a:p>
          <a:p>
            <a:endParaRPr lang="ru-RU" altLang="en-US">
              <a:solidFill>
                <a:schemeClr val="tx1"/>
              </a:solidFill>
            </a:endParaRPr>
          </a:p>
          <a:p>
            <a:r>
              <a:rPr lang="ru-RU" altLang="en-US">
                <a:solidFill>
                  <a:schemeClr val="tx1"/>
                </a:solidFill>
              </a:rPr>
              <a:t>Пример</a:t>
            </a:r>
            <a:r>
              <a:rPr lang="en-US" altLang="en-US">
                <a:solidFill>
                  <a:schemeClr val="tx1"/>
                </a:solidFill>
              </a:rPr>
              <a:t>:</a:t>
            </a:r>
            <a:r>
              <a:rPr lang="ru-RU" altLang="en-US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1 октября 2013 года был запущен онлайн-портал Healthcare.gov, посвященный Закону о доступном здравоохранении в США. Изначально он практически не работал, и на устранение проблем ушло два месяца. Причина — отсутствие четких указаний и недостаток технических знаний у руководства.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/>
              <a:t>3. Отсутствие гибкости и адаптивности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r>
              <a:rPr lang="ru-RU" altLang="en-US" sz="2000">
                <a:solidFill>
                  <a:schemeClr val="tx1"/>
                </a:solidFill>
              </a:rPr>
              <a:t>Проект является жёстко определённым и его план не позволяет быстро реагировать на изменения рынка, потребности клиентов или внутренних условий</a:t>
            </a:r>
            <a:endParaRPr lang="ru-RU" altLang="en-US" sz="2000">
              <a:solidFill>
                <a:schemeClr val="tx1"/>
              </a:solidFill>
            </a:endParaRPr>
          </a:p>
          <a:p>
            <a:r>
              <a:rPr lang="ru-RU" altLang="en-US" sz="2000">
                <a:solidFill>
                  <a:schemeClr val="tx1"/>
                </a:solidFill>
              </a:rPr>
              <a:t>Менеджеры ведут себя слишком </a:t>
            </a:r>
            <a:r>
              <a:rPr lang="ru-RU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«</a:t>
            </a:r>
            <a:r>
              <a:rPr lang="ru-RU" altLang="en-US" sz="2000">
                <a:solidFill>
                  <a:schemeClr val="tx1"/>
                </a:solidFill>
                <a:latin typeface="+mj-lt"/>
                <a:cs typeface="+mj-lt"/>
              </a:rPr>
              <a:t>гибко</a:t>
            </a:r>
            <a:r>
              <a:rPr lang="ru-RU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»</a:t>
            </a:r>
            <a:r>
              <a:rPr lang="ru-RU" altLang="en-US" sz="2000">
                <a:solidFill>
                  <a:schemeClr val="tx1"/>
                </a:solidFill>
                <a:latin typeface="+mj-lt"/>
                <a:cs typeface="+mj-lt"/>
              </a:rPr>
              <a:t>, раздувая проект там, где это не нужно</a:t>
            </a:r>
            <a:endParaRPr lang="ru-RU" altLang="en-US" sz="2000">
              <a:solidFill>
                <a:schemeClr val="tx1"/>
              </a:solidFill>
              <a:latin typeface="+mj-lt"/>
              <a:cs typeface="+mj-lt"/>
            </a:endParaRPr>
          </a:p>
          <a:p>
            <a:endParaRPr lang="ru-RU" altLang="en-US" sz="2000">
              <a:solidFill>
                <a:schemeClr val="tx1"/>
              </a:solidFill>
              <a:latin typeface="+mj-lt"/>
              <a:cs typeface="+mj-lt"/>
            </a:endParaRPr>
          </a:p>
          <a:p>
            <a:endParaRPr lang="ru-RU" altLang="en-US" sz="2000">
              <a:solidFill>
                <a:schemeClr val="tx1"/>
              </a:solidFill>
              <a:latin typeface="+mj-lt"/>
              <a:cs typeface="+mj-lt"/>
            </a:endParaRPr>
          </a:p>
          <a:p>
            <a:r>
              <a:rPr lang="ru-RU" altLang="en-US" sz="2000">
                <a:solidFill>
                  <a:schemeClr val="tx1"/>
                </a:solidFill>
                <a:latin typeface="+mj-lt"/>
                <a:cs typeface="+mj-lt"/>
              </a:rPr>
              <a:t>Пример</a:t>
            </a:r>
            <a:r>
              <a:rPr lang="en-US" altLang="en-US" sz="2000">
                <a:solidFill>
                  <a:schemeClr val="tx1"/>
                </a:solidFill>
                <a:latin typeface="+mj-lt"/>
                <a:cs typeface="+mj-lt"/>
              </a:rPr>
              <a:t>:</a:t>
            </a:r>
            <a:r>
              <a:rPr lang="ru-RU" altLang="en-US" sz="2000">
                <a:solidFill>
                  <a:schemeClr val="tx1"/>
                </a:solidFill>
                <a:latin typeface="+mj-lt"/>
                <a:cs typeface="+mj-lt"/>
              </a:rPr>
              <a:t> Проект</a:t>
            </a:r>
            <a:r>
              <a:rPr lang="en-US" altLang="en-US" sz="2000">
                <a:solidFill>
                  <a:schemeClr val="tx1"/>
                </a:solidFill>
                <a:latin typeface="+mj-lt"/>
                <a:cs typeface="+mj-lt"/>
              </a:rPr>
              <a:t> Nokia с операционной системой Symbian в конце 2000</a:t>
            </a:r>
            <a:r>
              <a:rPr lang="ru-RU" altLang="en-US" sz="2000">
                <a:solidFill>
                  <a:schemeClr val="tx1"/>
                </a:solidFill>
                <a:latin typeface="+mj-lt"/>
                <a:cs typeface="+mj-lt"/>
              </a:rPr>
              <a:t>-</a:t>
            </a:r>
            <a:r>
              <a:rPr lang="en-US" altLang="en-US" sz="2000">
                <a:solidFill>
                  <a:schemeClr val="tx1"/>
                </a:solidFill>
                <a:latin typeface="+mj-lt"/>
                <a:cs typeface="+mj-lt"/>
              </a:rPr>
              <a:t>х и начале 2010</a:t>
            </a:r>
            <a:r>
              <a:rPr lang="ru-RU" altLang="en-US" sz="2000">
                <a:solidFill>
                  <a:schemeClr val="tx1"/>
                </a:solidFill>
                <a:latin typeface="+mj-lt"/>
                <a:cs typeface="+mj-lt"/>
              </a:rPr>
              <a:t>-</a:t>
            </a:r>
            <a:r>
              <a:rPr lang="en-US" altLang="en-US" sz="2000">
                <a:solidFill>
                  <a:schemeClr val="tx1"/>
                </a:solidFill>
                <a:latin typeface="+mj-lt"/>
                <a:cs typeface="+mj-lt"/>
              </a:rPr>
              <a:t>х.</a:t>
            </a:r>
            <a:r>
              <a:rPr lang="ru-RU" altLang="en-US" sz="2000">
                <a:solidFill>
                  <a:schemeClr val="tx1"/>
                </a:solidFill>
                <a:latin typeface="+mj-lt"/>
                <a:cs typeface="+mj-lt"/>
              </a:rPr>
              <a:t> </a:t>
            </a:r>
            <a:r>
              <a:rPr lang="en-US" altLang="en-US" sz="2000">
                <a:solidFill>
                  <a:schemeClr val="tx1"/>
                </a:solidFill>
                <a:latin typeface="+mj-lt"/>
                <a:cs typeface="+mj-lt"/>
              </a:rPr>
              <a:t>Компания выстроила жёсткий план развития: большие инвестиции в эту платформу</a:t>
            </a:r>
            <a:r>
              <a:rPr lang="ru-RU" altLang="en-US" sz="2000">
                <a:solidFill>
                  <a:schemeClr val="tx1"/>
                </a:solidFill>
                <a:latin typeface="+mj-lt"/>
                <a:cs typeface="+mj-lt"/>
              </a:rPr>
              <a:t> и т.д.</a:t>
            </a:r>
            <a:r>
              <a:rPr lang="en-US" altLang="en-US" sz="2000">
                <a:solidFill>
                  <a:schemeClr val="tx1"/>
                </a:solidFill>
                <a:latin typeface="+mj-lt"/>
                <a:cs typeface="+mj-lt"/>
              </a:rPr>
              <a:t>, </a:t>
            </a:r>
            <a:r>
              <a:rPr lang="ru-RU" altLang="en-US" sz="2000">
                <a:solidFill>
                  <a:schemeClr val="tx1"/>
                </a:solidFill>
                <a:latin typeface="+mj-lt"/>
                <a:cs typeface="+mj-lt"/>
              </a:rPr>
              <a:t>но после выхода на рынок </a:t>
            </a:r>
            <a:r>
              <a:rPr lang="en-US" altLang="ru-RU" sz="2000">
                <a:solidFill>
                  <a:schemeClr val="tx1"/>
                </a:solidFill>
                <a:latin typeface="+mj-lt"/>
                <a:cs typeface="+mj-lt"/>
              </a:rPr>
              <a:t>iPhone </a:t>
            </a:r>
            <a:r>
              <a:rPr lang="ru-RU" altLang="ru-RU" sz="2000">
                <a:solidFill>
                  <a:schemeClr val="tx1"/>
                </a:solidFill>
                <a:latin typeface="+mj-lt"/>
                <a:cs typeface="+mj-lt"/>
              </a:rPr>
              <a:t>и </a:t>
            </a:r>
            <a:r>
              <a:rPr lang="en-US" altLang="ru-RU" sz="2000">
                <a:solidFill>
                  <a:schemeClr val="tx1"/>
                </a:solidFill>
                <a:latin typeface="+mj-lt"/>
                <a:cs typeface="+mj-lt"/>
              </a:rPr>
              <a:t>Android</a:t>
            </a:r>
            <a:r>
              <a:rPr lang="ru-RU" altLang="ru-RU" sz="2000">
                <a:solidFill>
                  <a:schemeClr val="tx1"/>
                </a:solidFill>
                <a:latin typeface="+mj-lt"/>
                <a:cs typeface="+mj-lt"/>
              </a:rPr>
              <a:t> ситуация резко поменялась.</a:t>
            </a:r>
            <a:endParaRPr lang="en-US" altLang="en-US" sz="2000">
              <a:solidFill>
                <a:schemeClr val="tx1"/>
              </a:solidFill>
              <a:latin typeface="+mj-lt"/>
              <a:cs typeface="+mj-lt"/>
            </a:endParaRPr>
          </a:p>
          <a:p>
            <a:endParaRPr lang="ru-RU" altLang="en-US" sz="2000">
              <a:solidFill>
                <a:schemeClr val="tx1"/>
              </a:solidFill>
              <a:latin typeface="+mj-lt"/>
              <a:cs typeface="+mj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/>
              <a:t>4. Проблемы с коммуникацией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ru-RU" altLang="en-US" sz="2000">
                <a:solidFill>
                  <a:schemeClr val="tx1"/>
                </a:solidFill>
              </a:rPr>
              <a:t>В команде нет открытого диалога, информация теряется</a:t>
            </a:r>
            <a:endParaRPr lang="ru-RU" altLang="en-US" sz="2000">
              <a:solidFill>
                <a:schemeClr val="tx1"/>
              </a:solidFill>
            </a:endParaRPr>
          </a:p>
          <a:p>
            <a:r>
              <a:rPr lang="ru-RU" altLang="en-US" sz="2000">
                <a:solidFill>
                  <a:schemeClr val="tx1"/>
                </a:solidFill>
              </a:rPr>
              <a:t>Возникают конфликты из-за разных трактовок задач</a:t>
            </a:r>
            <a:endParaRPr lang="ru-RU" altLang="en-US" sz="2000">
              <a:solidFill>
                <a:schemeClr val="tx1"/>
              </a:solidFill>
            </a:endParaRPr>
          </a:p>
          <a:p>
            <a:r>
              <a:rPr lang="ru-RU" altLang="en-US" sz="2000">
                <a:solidFill>
                  <a:schemeClr val="tx1"/>
                </a:solidFill>
              </a:rPr>
              <a:t>Отсутствуют возможности связи с командой в другой стране и т.д.</a:t>
            </a:r>
            <a:endParaRPr lang="ru-RU" altLang="en-US" sz="2000">
              <a:solidFill>
                <a:schemeClr val="tx1"/>
              </a:solidFill>
            </a:endParaRPr>
          </a:p>
          <a:p>
            <a:endParaRPr lang="ru-RU" altLang="en-US" sz="2000">
              <a:solidFill>
                <a:schemeClr val="tx1"/>
              </a:solidFill>
            </a:endParaRPr>
          </a:p>
          <a:p>
            <a:endParaRPr lang="ru-RU" altLang="en-US" sz="2000">
              <a:solidFill>
                <a:schemeClr val="tx1"/>
              </a:solidFill>
            </a:endParaRPr>
          </a:p>
          <a:p>
            <a:r>
              <a:rPr lang="ru-RU" altLang="en-US" sz="2000">
                <a:solidFill>
                  <a:schemeClr val="tx1"/>
                </a:solidFill>
              </a:rPr>
              <a:t>Пример</a:t>
            </a:r>
            <a:r>
              <a:rPr lang="en-US" altLang="en-US" sz="2000">
                <a:solidFill>
                  <a:schemeClr val="tx1"/>
                </a:solidFill>
              </a:rPr>
              <a:t>:</a:t>
            </a:r>
            <a:r>
              <a:rPr lang="ru-RU" altLang="en-US" sz="2000">
                <a:solidFill>
                  <a:schemeClr val="tx1"/>
                </a:solidFill>
              </a:rPr>
              <a:t> </a:t>
            </a:r>
            <a:r>
              <a:rPr lang="en-US" altLang="en-US" sz="2000">
                <a:solidFill>
                  <a:schemeClr val="tx1"/>
                </a:solidFill>
              </a:rPr>
              <a:t>No Man’s Sky (2016): в рекламе обещали мультиплеер и богатый контент, а в релизной версии этого не было. Из</a:t>
            </a:r>
            <a:r>
              <a:rPr lang="ru-RU" altLang="en-US" sz="2000">
                <a:solidFill>
                  <a:schemeClr val="tx1"/>
                </a:solidFill>
              </a:rPr>
              <a:t>-</a:t>
            </a:r>
            <a:r>
              <a:rPr lang="en-US" altLang="en-US" sz="2000">
                <a:solidFill>
                  <a:schemeClr val="tx1"/>
                </a:solidFill>
              </a:rPr>
              <a:t>за плохой синхронизации между PR и командой игроки сочли это обманом — рейтинг и доверие резко упали</a:t>
            </a:r>
            <a:endParaRPr lang="ru-RU" altLang="en-US" sz="20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ru-RU" altLang="en-US"/>
              <a:t>5. Плохое планирование и недооценка рисков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ru-RU" altLang="en-US" sz="2000">
                <a:solidFill>
                  <a:schemeClr val="tx1"/>
                </a:solidFill>
              </a:rPr>
              <a:t>Не проведён тщательный анализ масштаба</a:t>
            </a:r>
            <a:endParaRPr lang="ru-RU" altLang="en-US" sz="2000">
              <a:solidFill>
                <a:schemeClr val="tx1"/>
              </a:solidFill>
            </a:endParaRPr>
          </a:p>
          <a:p>
            <a:r>
              <a:rPr lang="ru-RU" altLang="en-US" sz="2000">
                <a:solidFill>
                  <a:schemeClr val="tx1"/>
                </a:solidFill>
              </a:rPr>
              <a:t>Не составлен реалистичный бюджет</a:t>
            </a:r>
            <a:endParaRPr lang="ru-RU" altLang="en-US" sz="2000">
              <a:solidFill>
                <a:schemeClr val="tx1"/>
              </a:solidFill>
            </a:endParaRPr>
          </a:p>
          <a:p>
            <a:r>
              <a:rPr lang="ru-RU" altLang="en-US" sz="2000">
                <a:solidFill>
                  <a:schemeClr val="tx1"/>
                </a:solidFill>
              </a:rPr>
              <a:t>Не заложены меры по управлению рисками и обеспечению качества </a:t>
            </a:r>
            <a:endParaRPr lang="ru-RU" altLang="en-US" sz="2000">
              <a:solidFill>
                <a:schemeClr val="tx1"/>
              </a:solidFill>
            </a:endParaRPr>
          </a:p>
          <a:p>
            <a:endParaRPr lang="ru-RU" altLang="en-US" sz="2000">
              <a:solidFill>
                <a:schemeClr val="tx1"/>
              </a:solidFill>
            </a:endParaRPr>
          </a:p>
          <a:p>
            <a:r>
              <a:rPr lang="ru-RU" altLang="en-US" sz="2000">
                <a:solidFill>
                  <a:schemeClr val="tx1"/>
                </a:solidFill>
              </a:rPr>
              <a:t>Пример</a:t>
            </a:r>
            <a:r>
              <a:rPr lang="en-US" altLang="en-US" sz="2000">
                <a:solidFill>
                  <a:schemeClr val="tx1"/>
                </a:solidFill>
              </a:rPr>
              <a:t>:</a:t>
            </a:r>
            <a:r>
              <a:rPr lang="ru-RU" altLang="en-US" sz="2000">
                <a:solidFill>
                  <a:schemeClr val="tx1"/>
                </a:solidFill>
              </a:rPr>
              <a:t> </a:t>
            </a:r>
            <a:r>
              <a:rPr lang="en-US" altLang="en-US" sz="2000">
                <a:solidFill>
                  <a:schemeClr val="tx1"/>
                </a:solidFill>
              </a:rPr>
              <a:t>Запуск Windows Vista (2007): из</a:t>
            </a:r>
            <a:r>
              <a:rPr lang="ru-RU" altLang="en-US" sz="2000">
                <a:solidFill>
                  <a:schemeClr val="tx1"/>
                </a:solidFill>
              </a:rPr>
              <a:t>-</a:t>
            </a:r>
            <a:r>
              <a:rPr lang="en-US" altLang="en-US" sz="2000">
                <a:solidFill>
                  <a:schemeClr val="tx1"/>
                </a:solidFill>
              </a:rPr>
              <a:t>за плохо проработанного плана и недооценки технических рисков (совместимость со старым софтом и драйверами, требования к железу) релиз сильно задержали, а пользователи столкнулись с низкой производительностью и несовместимостью. Итог —медленное внедрение и репутационные потери</a:t>
            </a:r>
            <a:endParaRPr lang="en-US" altLang="en-US" sz="2000">
              <a:solidFill>
                <a:schemeClr val="tx1"/>
              </a:solidFill>
            </a:endParaRPr>
          </a:p>
          <a:p>
            <a:endParaRPr lang="ru-RU" altLang="en-US" sz="20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/>
              <a:t>Спасибо за внимание!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2703</Words>
  <Application>WPS Presentation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Times New Roman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Почему проекты проваливаются? 5 самых частых причин</dc:title>
  <dc:creator>User</dc:creator>
  <cp:lastModifiedBy>DokToP BoT</cp:lastModifiedBy>
  <cp:revision>3</cp:revision>
  <dcterms:created xsi:type="dcterms:W3CDTF">2026-10-15T10:59:04Z</dcterms:created>
  <dcterms:modified xsi:type="dcterms:W3CDTF">2026-10-15T12:00:14Z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4180660840CE4811811BE926DE3257CE_11</vt:lpwstr>
  </property>
</Properties>
</file>