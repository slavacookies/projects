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ru-RU" altLang="en-US" sz="3555"/>
              <a:t>Комплексная программа продвижения и стимулирования продаж сети супермаркетов </a:t>
            </a:r>
            <a:r>
              <a:rPr lang="ru-RU" altLang="en-US" sz="3555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ru-RU" altLang="en-US" sz="3555">
                <a:cs typeface="+mj-lt"/>
              </a:rPr>
              <a:t>Остап</a:t>
            </a:r>
            <a:r>
              <a:rPr lang="ru-RU" altLang="en-US" sz="3555">
                <a:latin typeface="Times New Roman" panose="02020603050405020304" charset="0"/>
                <a:cs typeface="Times New Roman" panose="02020603050405020304" charset="0"/>
              </a:rPr>
              <a:t>»</a:t>
            </a:r>
            <a:endParaRPr lang="ru-RU" altLang="en-US" sz="355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560445"/>
            <a:ext cx="9799320" cy="2877185"/>
          </a:xfrm>
        </p:spPr>
        <p:txBody>
          <a:bodyPr>
            <a:normAutofit/>
          </a:bodyPr>
          <a:p>
            <a:pPr algn="just"/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Кейс</a:t>
            </a:r>
            <a:r>
              <a:rPr lang="en-US" altLang="en-US" sz="2000">
                <a:solidFill>
                  <a:schemeClr val="tx1"/>
                </a:solidFill>
                <a:latin typeface="+mj-lt"/>
                <a:cs typeface="+mj-lt"/>
              </a:rPr>
              <a:t>: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 ООО «Ремедиум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» (ГК «Остап»)</a:t>
            </a:r>
            <a:endParaRPr lang="ru-RU" altLang="en-US" sz="2000">
              <a:solidFill>
                <a:schemeClr val="tx1"/>
              </a:solidFill>
              <a:latin typeface="+mj-lt"/>
              <a:cs typeface="+mj-lt"/>
            </a:endParaRPr>
          </a:p>
          <a:p>
            <a:pPr algn="just"/>
            <a:r>
              <a:rPr lang="ru-RU" altLang="en-US" sz="2000">
                <a:solidFill>
                  <a:schemeClr val="tx1"/>
                </a:solidFill>
              </a:rPr>
              <a:t>Выполнили</a:t>
            </a:r>
            <a:r>
              <a:rPr lang="en-US" altLang="en-US" sz="2000">
                <a:solidFill>
                  <a:schemeClr val="tx1"/>
                </a:solidFill>
              </a:rPr>
              <a:t>:</a:t>
            </a:r>
            <a:r>
              <a:rPr lang="ru-RU" altLang="en-US" sz="2000">
                <a:solidFill>
                  <a:schemeClr val="tx1"/>
                </a:solidFill>
              </a:rPr>
              <a:t> Лебедев Илья</a:t>
            </a:r>
            <a:r>
              <a:rPr lang="en-US" altLang="en-US" sz="2000">
                <a:solidFill>
                  <a:schemeClr val="tx1"/>
                </a:solidFill>
              </a:rPr>
              <a:t>, </a:t>
            </a:r>
            <a:r>
              <a:rPr lang="ru-RU" altLang="en-US" sz="2000">
                <a:solidFill>
                  <a:schemeClr val="tx1"/>
                </a:solidFill>
              </a:rPr>
              <a:t>Трубачев Ярослав</a:t>
            </a:r>
            <a:r>
              <a:rPr lang="en-US" altLang="ru-RU" sz="2000">
                <a:solidFill>
                  <a:schemeClr val="tx1"/>
                </a:solidFill>
              </a:rPr>
              <a:t>,</a:t>
            </a:r>
            <a:r>
              <a:rPr lang="ru-RU" altLang="en-US" sz="2000">
                <a:solidFill>
                  <a:schemeClr val="tx1"/>
                </a:solidFill>
              </a:rPr>
              <a:t> Поскребышев Вячеслав</a:t>
            </a:r>
            <a:r>
              <a:rPr lang="en-US" altLang="ru-RU" sz="2000">
                <a:solidFill>
                  <a:schemeClr val="tx1"/>
                </a:solidFill>
              </a:rPr>
              <a:t>,</a:t>
            </a:r>
            <a:r>
              <a:rPr lang="ru-RU" altLang="en-US" sz="2000">
                <a:solidFill>
                  <a:schemeClr val="tx1"/>
                </a:solidFill>
              </a:rPr>
              <a:t> Ижболдин Арсений</a:t>
            </a:r>
            <a:r>
              <a:rPr lang="en-US" altLang="ru-RU" sz="2000">
                <a:solidFill>
                  <a:schemeClr val="tx1"/>
                </a:solidFill>
              </a:rPr>
              <a:t>,</a:t>
            </a:r>
            <a:r>
              <a:rPr lang="ru-RU" altLang="en-US" sz="2000">
                <a:solidFill>
                  <a:schemeClr val="tx1"/>
                </a:solidFill>
              </a:rPr>
              <a:t> Ижболдин Серафим</a:t>
            </a:r>
            <a:endParaRPr lang="ru-RU" altLang="en-US" sz="2000">
              <a:solidFill>
                <a:schemeClr val="tx1"/>
              </a:solidFill>
            </a:endParaRPr>
          </a:p>
          <a:p>
            <a:pPr algn="just"/>
            <a:r>
              <a:rPr lang="ru-RU" altLang="en-US" sz="2000">
                <a:solidFill>
                  <a:schemeClr val="tx1"/>
                </a:solidFill>
              </a:rPr>
              <a:t>Группа</a:t>
            </a:r>
            <a:r>
              <a:rPr lang="en-US" altLang="en-US" sz="2000">
                <a:solidFill>
                  <a:schemeClr val="tx1"/>
                </a:solidFill>
              </a:rPr>
              <a:t>:</a:t>
            </a:r>
            <a:r>
              <a:rPr lang="ru-RU" altLang="en-US" sz="2000">
                <a:solidFill>
                  <a:schemeClr val="tx1"/>
                </a:solidFill>
              </a:rPr>
              <a:t> ОМ-03.04.02.01-11</a:t>
            </a:r>
            <a:endParaRPr lang="ru-RU" altLang="en-US" sz="2000">
              <a:solidFill>
                <a:schemeClr val="tx1"/>
              </a:solidFill>
            </a:endParaRPr>
          </a:p>
          <a:p>
            <a:pPr algn="just"/>
            <a:endParaRPr lang="ru-RU" altLang="en-US" sz="2000">
              <a:solidFill>
                <a:schemeClr val="tx1"/>
              </a:solidFill>
            </a:endParaRPr>
          </a:p>
          <a:p>
            <a:pPr algn="ctr"/>
            <a:r>
              <a:rPr lang="ru-RU" altLang="en-US" sz="2000">
                <a:solidFill>
                  <a:schemeClr val="tx1"/>
                </a:solidFill>
              </a:rPr>
              <a:t>2026 г.</a:t>
            </a:r>
            <a:endParaRPr lang="ru-RU" altLang="en-US" sz="2000">
              <a:solidFill>
                <a:schemeClr val="tx1"/>
              </a:solidFill>
            </a:endParaRPr>
          </a:p>
          <a:p>
            <a:pPr algn="just"/>
            <a:endParaRPr lang="ru-RU" altLang="en-US" sz="2000">
              <a:solidFill>
                <a:schemeClr val="tx1"/>
              </a:solidFill>
            </a:endParaRPr>
          </a:p>
          <a:p>
            <a:pPr algn="r"/>
            <a:endParaRPr lang="ru-RU" altLang="en-US"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706120"/>
          </a:xfrm>
        </p:spPr>
        <p:txBody>
          <a:bodyPr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03675" y="1313815"/>
            <a:ext cx="3456940" cy="12153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ru-RU" altLang="en-US">
                <a:latin typeface="+mj-lt"/>
                <a:cs typeface="+mj-lt"/>
              </a:rPr>
              <a:t>Группа компаний «Остап»</a:t>
            </a:r>
            <a:endParaRPr lang="ru-RU" altLang="en-US">
              <a:latin typeface="+mj-lt"/>
              <a:cs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0065" y="3429000"/>
            <a:ext cx="2085975" cy="12153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ru-RU" altLang="en-US">
                <a:latin typeface="+mj-lt"/>
                <a:cs typeface="+mj-lt"/>
              </a:rPr>
              <a:t>ООО «</a:t>
            </a:r>
            <a:r>
              <a:rPr lang="ru-RU" altLang="en-US">
                <a:latin typeface="+mj-lt"/>
                <a:cs typeface="+mj-lt"/>
              </a:rPr>
              <a:t>Сицилия-пицца» (есть пиццерия «</a:t>
            </a:r>
            <a:r>
              <a:rPr lang="ru-RU" altLang="en-US">
                <a:latin typeface="+mj-lt"/>
                <a:cs typeface="+mj-lt"/>
              </a:rPr>
              <a:t>Сицилия»)</a:t>
            </a:r>
            <a:endParaRPr lang="ru-RU" altLang="en-US">
              <a:latin typeface="+mj-lt"/>
              <a:cs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3070" y="3429000"/>
            <a:ext cx="2920365" cy="12153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ru-RU" altLang="en-US">
                <a:latin typeface="+mj-lt"/>
                <a:cs typeface="+mj-lt"/>
              </a:rPr>
              <a:t>ООО «</a:t>
            </a:r>
            <a:r>
              <a:rPr lang="ru-RU" altLang="en-US">
                <a:latin typeface="+mj-lt"/>
                <a:cs typeface="+mj-lt"/>
              </a:rPr>
              <a:t>Остап» (производство полуфабрикатов для супермаркетов «</a:t>
            </a:r>
            <a:r>
              <a:rPr lang="ru-RU" altLang="en-US">
                <a:latin typeface="+mj-lt"/>
                <a:cs typeface="+mj-lt"/>
              </a:rPr>
              <a:t>Остап»)</a:t>
            </a:r>
            <a:endParaRPr lang="ru-RU" altLang="en-US">
              <a:latin typeface="+mj-lt"/>
              <a:cs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60465" y="3446145"/>
            <a:ext cx="2485390" cy="12153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ru-RU" altLang="en-US">
                <a:latin typeface="+mj-lt"/>
                <a:cs typeface="+mj-lt"/>
              </a:rPr>
              <a:t>ООО «</a:t>
            </a:r>
            <a:r>
              <a:rPr lang="ru-RU" altLang="en-US">
                <a:latin typeface="+mj-lt"/>
                <a:cs typeface="+mj-lt"/>
              </a:rPr>
              <a:t>Ремедиум» (сеть супермаркетов «</a:t>
            </a:r>
            <a:r>
              <a:rPr lang="ru-RU" altLang="en-US">
                <a:latin typeface="+mj-lt"/>
                <a:cs typeface="+mj-lt"/>
              </a:rPr>
              <a:t>Остап») </a:t>
            </a:r>
            <a:endParaRPr lang="ru-RU" altLang="en-US">
              <a:latin typeface="+mj-lt"/>
              <a:cs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12885" y="3429000"/>
            <a:ext cx="2336800" cy="12153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ru-RU" altLang="en-US">
                <a:latin typeface="+mj-lt"/>
                <a:cs typeface="+mj-lt"/>
              </a:rPr>
              <a:t>ООО «Пивной дом» (пивной ресторан)</a:t>
            </a:r>
            <a:endParaRPr lang="ru-RU" altLang="en-US">
              <a:latin typeface="+mj-lt"/>
              <a:cs typeface="+mj-lt"/>
            </a:endParaRPr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 flipH="1">
            <a:off x="1563370" y="2529205"/>
            <a:ext cx="4168775" cy="899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  <a:endCxn id="7" idx="0"/>
          </p:cNvCxnSpPr>
          <p:nvPr/>
        </p:nvCxnSpPr>
        <p:spPr>
          <a:xfrm flipH="1">
            <a:off x="4433570" y="2529205"/>
            <a:ext cx="1298575" cy="899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8" idx="0"/>
          </p:cNvCxnSpPr>
          <p:nvPr/>
        </p:nvCxnSpPr>
        <p:spPr>
          <a:xfrm>
            <a:off x="5914390" y="2563495"/>
            <a:ext cx="1588770" cy="882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2"/>
            <a:endCxn id="9" idx="0"/>
          </p:cNvCxnSpPr>
          <p:nvPr/>
        </p:nvCxnSpPr>
        <p:spPr>
          <a:xfrm>
            <a:off x="5732145" y="2529205"/>
            <a:ext cx="4549140" cy="899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Проблема </a:t>
            </a:r>
            <a:r>
              <a:rPr lang="ru-RU" altLang="en-US">
                <a:latin typeface="SimSun" panose="02010600030101010101" pitchFamily="2" charset="-122"/>
                <a:ea typeface="SimSun" panose="02010600030101010101" pitchFamily="2" charset="-122"/>
              </a:rPr>
              <a:t>－ </a:t>
            </a:r>
            <a:r>
              <a:rPr lang="ru-RU" altLang="en-US">
                <a:ea typeface="SimSun" panose="02010600030101010101" pitchFamily="2" charset="-122"/>
                <a:cs typeface="+mj-lt"/>
              </a:rPr>
              <a:t>Падение доли рынка</a:t>
            </a:r>
            <a:endParaRPr lang="ru-RU" altLang="en-US">
              <a:ea typeface="SimSun" panose="02010600030101010101" pitchFamily="2" charset="-122"/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4681220"/>
          </a:xfrm>
        </p:spPr>
        <p:txBody>
          <a:bodyPr>
            <a:noAutofit/>
          </a:bodyPr>
          <a:p>
            <a:endParaRPr lang="ru-RU" altLang="en-US" sz="3600">
              <a:solidFill>
                <a:schemeClr val="tx1"/>
              </a:solidFill>
            </a:endParaRPr>
          </a:p>
          <a:p>
            <a:r>
              <a:rPr lang="ru-RU" altLang="en-US" sz="3600">
                <a:solidFill>
                  <a:schemeClr val="tx1"/>
                </a:solidFill>
              </a:rPr>
              <a:t>В 2015 году доля рынка составляла порядка 28-30%</a:t>
            </a:r>
            <a:endParaRPr lang="ru-RU" altLang="en-US" sz="3600">
              <a:solidFill>
                <a:schemeClr val="tx1"/>
              </a:solidFill>
            </a:endParaRPr>
          </a:p>
          <a:p>
            <a:endParaRPr lang="ru-RU" altLang="en-US" sz="3600">
              <a:solidFill>
                <a:schemeClr val="tx1"/>
              </a:solidFill>
            </a:endParaRPr>
          </a:p>
          <a:p>
            <a:r>
              <a:rPr lang="ru-RU" altLang="en-US" sz="3600">
                <a:solidFill>
                  <a:schemeClr val="tx1"/>
                </a:solidFill>
              </a:rPr>
              <a:t>Сейчас эта доля равна 15%</a:t>
            </a:r>
            <a:endParaRPr lang="ru-RU" altLang="en-US" sz="3600">
              <a:solidFill>
                <a:schemeClr val="tx1"/>
              </a:solidFill>
            </a:endParaRPr>
          </a:p>
          <a:p>
            <a:endParaRPr lang="ru-RU" altLang="en-US" sz="36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/>
              <a:t>Корень проблемы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5459095"/>
            <a:ext cx="10968990" cy="1066800"/>
          </a:xfrm>
        </p:spPr>
        <p:txBody>
          <a:bodyPr>
            <a:noAutofit/>
          </a:bodyPr>
          <a:p>
            <a:r>
              <a:rPr lang="ru-RU" altLang="en-US" sz="2000">
                <a:solidFill>
                  <a:schemeClr val="tx1"/>
                </a:solidFill>
              </a:rPr>
              <a:t>Падение рынка, прежде всего, связано с отсутствием рекламы и недостатке акций со скидками, что не привлекает покупателей.</a:t>
            </a:r>
            <a:endParaRPr lang="ru-RU" altLang="en-US" sz="2000">
              <a:solidFill>
                <a:schemeClr val="tx1"/>
              </a:solidFill>
            </a:endParaRPr>
          </a:p>
        </p:txBody>
      </p:sp>
      <p:pic>
        <p:nvPicPr>
          <p:cNvPr id="4" name="Picture 3" descr="2026-10-08_13-04-04"/>
          <p:cNvPicPr>
            <a:picLocks noChangeAspect="1"/>
          </p:cNvPicPr>
          <p:nvPr/>
        </p:nvPicPr>
        <p:blipFill>
          <a:blip r:embed="rId3"/>
          <a:srcRect l="32484" t="53500" r="23875" b="7157"/>
          <a:stretch>
            <a:fillRect/>
          </a:stretch>
        </p:blipFill>
        <p:spPr>
          <a:xfrm>
            <a:off x="2009140" y="1313180"/>
            <a:ext cx="8174355" cy="41459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Предлагаемые решения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sz="2000">
                <a:solidFill>
                  <a:schemeClr val="tx1"/>
                </a:solidFill>
              </a:rPr>
              <a:t>Запуск рекламной кампании (соцсети, местное ТВ, рекламные буклеты и т.д.)</a:t>
            </a:r>
            <a:r>
              <a:rPr lang="en-US" altLang="en-US" sz="2000">
                <a:solidFill>
                  <a:schemeClr val="tx1"/>
                </a:solidFill>
              </a:rPr>
              <a:t>;</a:t>
            </a:r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Программа лояльности (накопительные карты 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«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Остап-бонус»</a:t>
            </a:r>
            <a:r>
              <a:rPr lang="ru-RU" altLang="en-US" sz="2000">
                <a:solidFill>
                  <a:schemeClr val="tx1"/>
                </a:solidFill>
              </a:rPr>
              <a:t>)</a:t>
            </a:r>
            <a:r>
              <a:rPr lang="en-US" altLang="ru-RU" sz="2000">
                <a:solidFill>
                  <a:schemeClr val="tx1"/>
                </a:solidFill>
              </a:rPr>
              <a:t>;</a:t>
            </a:r>
            <a:endParaRPr lang="en-US" altLang="ru-RU" sz="2000">
              <a:solidFill>
                <a:schemeClr val="tx1"/>
              </a:solidFill>
            </a:endParaRPr>
          </a:p>
          <a:p>
            <a:r>
              <a:rPr lang="ru-RU" altLang="ru-RU" sz="2000">
                <a:solidFill>
                  <a:schemeClr val="tx1"/>
                </a:solidFill>
              </a:rPr>
              <a:t>Акции</a:t>
            </a:r>
            <a:r>
              <a:rPr lang="en-US" altLang="ru-RU" sz="2000">
                <a:solidFill>
                  <a:schemeClr val="tx1"/>
                </a:solidFill>
              </a:rPr>
              <a:t>;</a:t>
            </a:r>
            <a:endParaRPr lang="ru-RU" altLang="ru-RU" sz="2000">
              <a:solidFill>
                <a:schemeClr val="tx1"/>
              </a:solidFill>
            </a:endParaRPr>
          </a:p>
          <a:p>
            <a:r>
              <a:rPr lang="ru-RU" altLang="ru-RU" sz="2000">
                <a:solidFill>
                  <a:schemeClr val="tx1"/>
                </a:solidFill>
              </a:rPr>
              <a:t>Скидки для различных социальных групп общества.</a:t>
            </a:r>
            <a:endParaRPr lang="en-US" altLang="ru-RU"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9" name="Picture 8" descr="phases_ostap_compa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062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ru-RU" altLang="en-US"/>
              <a:t>Инициация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b="1">
                <a:solidFill>
                  <a:schemeClr val="tx1"/>
                </a:solidFill>
                <a:latin typeface="+mj-lt"/>
                <a:cs typeface="+mj-lt"/>
              </a:rPr>
              <a:t>Цели проекта</a:t>
            </a:r>
            <a:r>
              <a:rPr lang="ru-RU" altLang="en-US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восстановить долю рынка с 15% до 20% за 6 месяцев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Потребности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бюджет 550 тыс. руб. (собственные средства ООО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«Ремедиум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»)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Результаты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утверждённый Устав проекта, назначенный руководитель проекта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Ответственность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Генеральный директов ГК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«Остап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» утверждает проект</a:t>
            </a:r>
            <a:endParaRPr lang="en-US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Тип команды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кросс-функциональная (маркетолог, бухгалтер, заведующие магазинами)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Требования к ресурсам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выделенеи 550 тыс. руб., рабочее время сотрудников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Ограничения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－</a:t>
            </a:r>
            <a:r>
              <a:rPr lang="en-US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ограниченный бюджет, необходимость сохранить текущий ассортимент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>
              <a:buNone/>
            </a:pPr>
            <a:r>
              <a:rPr lang="ru-RU" altLang="en-US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Результат фазы</a:t>
            </a:r>
            <a:r>
              <a:rPr lang="en-US" altLang="en-US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: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Устав проекта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Планирование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l"/>
            <a:r>
              <a:rPr lang="ru-RU" altLang="en-US" b="1">
                <a:solidFill>
                  <a:schemeClr val="tx1"/>
                </a:solidFill>
                <a:latin typeface="+mj-lt"/>
                <a:cs typeface="+mj-lt"/>
              </a:rPr>
              <a:t>ИСР</a:t>
            </a:r>
            <a:r>
              <a:rPr lang="ru-RU" altLang="en-US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разбить проекти на задачи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: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разработка акций, печать буклетов, обучение персонала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algn="l"/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Расписание, бюджеты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календарный план на 6 месяцев, смета расходов (550 тыс. руб.)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algn="l"/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Ресурсы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кто из сотрудников будет задействован (маркетолог, кассиры, продавцы)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algn="l"/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Риски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риск низкой отдачи от акций, риск превышения бюджета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algn="l"/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Персонал, команда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назначить ответственных за каждую задачу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algn="l"/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План по коммуникации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как команда будет взаимодействовать (еженедельные встречи)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algn="l"/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Требования к качеству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стандарты проведения акций, качества рекламных материвалов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algn="l"/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Финансовая оценка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－ расчёт </a:t>
            </a:r>
            <a:r>
              <a:rPr lang="en-US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ROI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, ожидаемый прирость товарооборота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 algn="l">
              <a:buNone/>
            </a:pPr>
            <a:r>
              <a:rPr lang="ru-RU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Результат фазы</a:t>
            </a:r>
            <a:r>
              <a:rPr lang="en-US" altLang="ru-RU" b="1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: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План проекта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Осуществление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Отчеты о состоянии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— еженедельные отчеты о ходе реализации акций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Контроль и мониторинг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— отслеживание количества выданных карт лояльности, динамики продаж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Работа с изменениями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— корректировка акций, если они не работают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Прогнозы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— прогноз доли рынка на конец проекта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Работа с командой и стейкхолдерами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— мотивация персонала, обратная связь от заведующих магазинами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Контроль за стоимостью проекта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— контроль расходов в рамках 550 тыс. руб.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Корректировка плана проекта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— если нужно, изменить сроки или бюджет отдельных задач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+mj-lt"/>
                <a:cs typeface="+mj-lt"/>
              </a:rPr>
              <a:t>Результат фазы:</a:t>
            </a:r>
            <a:r>
              <a:rPr lang="en-US" altLang="en-US">
                <a:solidFill>
                  <a:schemeClr val="tx1"/>
                </a:solidFill>
                <a:latin typeface="+mj-lt"/>
                <a:cs typeface="+mj-lt"/>
              </a:rPr>
              <a:t> Отчеты о состоянии и изменениях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/>
              <a:t>Завершение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Передача документов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передача всех материалов (макеты буклетов, инструкции) в отдел маркетинга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Высвобождение ресурсов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сотрудники возвращаются к основной работе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Извлечение уроков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что сработало, что нет (например, "Товар недели" дал +15% к продажам)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Оценка результативности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достигли ли цели (доля рынка 20%?)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Контроль результативности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расчет фактического ROI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Распространение опыта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рекомендации для других магазинов сети</a:t>
            </a:r>
            <a:r>
              <a:rPr lang="ru-RU" altLang="en-US" sz="1700">
                <a:solidFill>
                  <a:schemeClr val="tx1"/>
                </a:solidFill>
                <a:latin typeface="+mj-lt"/>
                <a:cs typeface="+mj-lt"/>
              </a:rPr>
              <a:t> «Остап»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Создание архивов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сохранение всех документов проекта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Вознаграждения и празднование успехов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— премирование команды за достижение KPI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en-US" altLang="en-US" sz="1700" b="1">
                <a:solidFill>
                  <a:schemeClr val="tx1"/>
                </a:solidFill>
                <a:latin typeface="+mj-lt"/>
                <a:cs typeface="+mj-lt"/>
              </a:rPr>
              <a:t>Результат фазы:</a:t>
            </a:r>
            <a:r>
              <a:rPr lang="en-US" altLang="en-US" sz="1700">
                <a:solidFill>
                  <a:schemeClr val="tx1"/>
                </a:solidFill>
                <a:latin typeface="+mj-lt"/>
                <a:cs typeface="+mj-lt"/>
              </a:rPr>
              <a:t> Отчеты о результатах</a:t>
            </a:r>
            <a:endParaRPr lang="en-US" altLang="en-US" sz="1700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Спасибо за внимание!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3290</Words>
  <Application>WPS Presentation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Комплексная программа продвижения и стимулирования продаж сети супермаркетов «Остап»</dc:title>
  <dc:creator>User</dc:creator>
  <cp:lastModifiedBy>DokToP BoT</cp:lastModifiedBy>
  <cp:revision>6</cp:revision>
  <dcterms:created xsi:type="dcterms:W3CDTF">2026-10-08T08:22:17Z</dcterms:created>
  <dcterms:modified xsi:type="dcterms:W3CDTF">2026-10-08T11:29:24Z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483A8AC9DF684DF4853EDBA65F9D983B_13</vt:lpwstr>
  </property>
</Properties>
</file>