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9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ИСР</a:t>
            </a:r>
            <a:endParaRPr lang="ru-RU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algn="just"/>
            <a:r>
              <a:rPr lang="ru-RU" altLang="en-US">
                <a:solidFill>
                  <a:schemeClr val="tx1"/>
                </a:solidFill>
                <a:sym typeface="+mn-ea"/>
              </a:rPr>
              <a:t>Выполнили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:</a:t>
            </a:r>
            <a:r>
              <a:rPr lang="ru-RU" altLang="en-US">
                <a:solidFill>
                  <a:schemeClr val="tx1"/>
                </a:solidFill>
                <a:sym typeface="+mn-ea"/>
              </a:rPr>
              <a:t> Лебедев Илья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, </a:t>
            </a:r>
            <a:r>
              <a:rPr lang="ru-RU" altLang="en-US">
                <a:solidFill>
                  <a:schemeClr val="tx1"/>
                </a:solidFill>
                <a:sym typeface="+mn-ea"/>
              </a:rPr>
              <a:t>Трубачев Ярослав</a:t>
            </a:r>
            <a:r>
              <a:rPr lang="en-US" altLang="ru-RU">
                <a:solidFill>
                  <a:schemeClr val="tx1"/>
                </a:solidFill>
                <a:sym typeface="+mn-ea"/>
              </a:rPr>
              <a:t>,</a:t>
            </a:r>
            <a:r>
              <a:rPr lang="ru-RU" altLang="en-US">
                <a:solidFill>
                  <a:schemeClr val="tx1"/>
                </a:solidFill>
                <a:sym typeface="+mn-ea"/>
              </a:rPr>
              <a:t> Поскребышев Вячеслав</a:t>
            </a:r>
            <a:r>
              <a:rPr lang="en-US" altLang="ru-RU">
                <a:solidFill>
                  <a:schemeClr val="tx1"/>
                </a:solidFill>
                <a:sym typeface="+mn-ea"/>
              </a:rPr>
              <a:t>,</a:t>
            </a:r>
            <a:r>
              <a:rPr lang="ru-RU" altLang="en-US">
                <a:solidFill>
                  <a:schemeClr val="tx1"/>
                </a:solidFill>
                <a:sym typeface="+mn-ea"/>
              </a:rPr>
              <a:t> Ижболдин Арсений</a:t>
            </a:r>
            <a:r>
              <a:rPr lang="en-US" altLang="ru-RU">
                <a:solidFill>
                  <a:schemeClr val="tx1"/>
                </a:solidFill>
                <a:sym typeface="+mn-ea"/>
              </a:rPr>
              <a:t>,</a:t>
            </a:r>
            <a:r>
              <a:rPr lang="ru-RU" altLang="en-US">
                <a:solidFill>
                  <a:schemeClr val="tx1"/>
                </a:solidFill>
                <a:sym typeface="+mn-ea"/>
              </a:rPr>
              <a:t> Ижболдин Серафим</a:t>
            </a:r>
            <a:endParaRPr lang="ru-RU" altLang="en-US">
              <a:solidFill>
                <a:schemeClr val="tx1"/>
              </a:solidFill>
            </a:endParaRPr>
          </a:p>
          <a:p>
            <a:pPr algn="just"/>
            <a:r>
              <a:rPr lang="ru-RU" altLang="en-US">
                <a:solidFill>
                  <a:schemeClr val="tx1"/>
                </a:solidFill>
                <a:sym typeface="+mn-ea"/>
              </a:rPr>
              <a:t>Группа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:</a:t>
            </a:r>
            <a:r>
              <a:rPr lang="ru-RU" altLang="en-US">
                <a:solidFill>
                  <a:schemeClr val="tx1"/>
                </a:solidFill>
                <a:sym typeface="+mn-ea"/>
              </a:rPr>
              <a:t> ОМ-03.04.02.01-11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ru-RU" altLang="en-US" sz="2220"/>
              <a:t>Цель</a:t>
            </a:r>
            <a:r>
              <a:rPr lang="en-US" altLang="ru-RU" sz="2220"/>
              <a:t>:</a:t>
            </a:r>
            <a:r>
              <a:rPr lang="ru-RU" altLang="en-US" sz="2220"/>
              <a:t> Увеличить долю рынка сети супермаркетов</a:t>
            </a:r>
            <a:r>
              <a:rPr lang="ru-RU" altLang="en-US" sz="2220">
                <a:cs typeface="+mj-lt"/>
              </a:rPr>
              <a:t> </a:t>
            </a:r>
            <a:r>
              <a:rPr lang="ru-RU" altLang="en-US" sz="2220">
                <a:cs typeface="+mj-lt"/>
              </a:rPr>
              <a:t>«Остап» в городе Самара в течении 6 месяцев за счёт целевой маркетинговой программы </a:t>
            </a:r>
            <a:endParaRPr lang="ru-RU" altLang="en-US" sz="2220">
              <a:cs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8" name="Picture 7" descr="ИСР итоговый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0345"/>
            <a:ext cx="12192000" cy="47047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Анализ среды и потребностей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 sz="2800">
                <a:solidFill>
                  <a:schemeClr val="tx1"/>
                </a:solidFill>
                <a:latin typeface="+mj-lt"/>
                <a:cs typeface="+mj-lt"/>
              </a:rPr>
              <a:t>Анализ маркетинга «Магнит» </a:t>
            </a:r>
            <a:endParaRPr lang="ru-RU" altLang="en-US" sz="2800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ru-RU" altLang="en-US" sz="2800">
                <a:solidFill>
                  <a:schemeClr val="tx1"/>
                </a:solidFill>
                <a:latin typeface="+mj-lt"/>
                <a:cs typeface="+mj-lt"/>
              </a:rPr>
              <a:t>Анализ маркетинга «Пятёрочка»</a:t>
            </a:r>
            <a:endParaRPr lang="ru-RU" altLang="en-US" sz="2800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ru-RU" altLang="en-US" sz="2800">
                <a:solidFill>
                  <a:schemeClr val="tx1"/>
                </a:solidFill>
                <a:latin typeface="+mj-lt"/>
                <a:cs typeface="+mj-lt"/>
              </a:rPr>
              <a:t>Анализ причин ухода клиентов</a:t>
            </a:r>
            <a:endParaRPr lang="ru-RU" altLang="en-US" sz="2800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ru-RU" altLang="en-US" sz="2800">
                <a:solidFill>
                  <a:schemeClr val="tx1"/>
                </a:solidFill>
                <a:latin typeface="+mj-lt"/>
                <a:cs typeface="+mj-lt"/>
              </a:rPr>
              <a:t>Формулировка гипотез продвижения</a:t>
            </a:r>
            <a:endParaRPr lang="ru-RU" altLang="en-US" sz="2800">
              <a:solidFill>
                <a:schemeClr val="tx1"/>
              </a:solidFill>
              <a:latin typeface="+mj-lt"/>
              <a:cs typeface="+mj-lt"/>
            </a:endParaRPr>
          </a:p>
          <a:p>
            <a:r>
              <a:rPr lang="ru-RU" altLang="en-US" sz="2800">
                <a:solidFill>
                  <a:schemeClr val="tx1"/>
                </a:solidFill>
                <a:latin typeface="+mj-lt"/>
                <a:cs typeface="+mj-lt"/>
              </a:rPr>
              <a:t>Анализ структуры покупательской корзины</a:t>
            </a:r>
            <a:endParaRPr lang="ru-RU" altLang="en-US" sz="2800">
              <a:solidFill>
                <a:schemeClr val="tx1"/>
              </a:solidFill>
              <a:latin typeface="+mj-lt"/>
              <a:cs typeface="+mj-lt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Планирование маркетинга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 sz="2800">
                <a:solidFill>
                  <a:schemeClr val="tx1"/>
                </a:solidFill>
              </a:rPr>
              <a:t>Разработка механик продвижения</a:t>
            </a:r>
            <a:endParaRPr lang="ru-RU" altLang="en-US" sz="2800">
              <a:solidFill>
                <a:schemeClr val="tx1"/>
              </a:solidFill>
            </a:endParaRPr>
          </a:p>
          <a:p>
            <a:pPr marL="800100" lvl="1" indent="-342900">
              <a:buAutoNum type="arabicPeriod"/>
            </a:pPr>
            <a:r>
              <a:rPr lang="ru-RU" altLang="en-US" sz="2800">
                <a:solidFill>
                  <a:schemeClr val="tx1"/>
                </a:solidFill>
              </a:rPr>
              <a:t>Создание условий программы лояльности</a:t>
            </a:r>
            <a:endParaRPr lang="ru-RU" altLang="en-US" sz="2800">
              <a:solidFill>
                <a:schemeClr val="tx1"/>
              </a:solidFill>
            </a:endParaRPr>
          </a:p>
          <a:p>
            <a:pPr marL="800100" lvl="1" indent="-342900">
              <a:buAutoNum type="arabicPeriod"/>
            </a:pPr>
            <a:r>
              <a:rPr lang="ru-RU" altLang="en-US" sz="2800">
                <a:solidFill>
                  <a:schemeClr val="tx1"/>
                </a:solidFill>
              </a:rPr>
              <a:t>Разработка механик акций и скидок</a:t>
            </a:r>
            <a:endParaRPr lang="ru-RU" altLang="en-US" sz="2800">
              <a:solidFill>
                <a:schemeClr val="tx1"/>
              </a:solidFill>
            </a:endParaRPr>
          </a:p>
          <a:p>
            <a:pPr lvl="0"/>
            <a:r>
              <a:rPr lang="ru-RU" altLang="en-US" sz="2800">
                <a:solidFill>
                  <a:schemeClr val="tx1"/>
                </a:solidFill>
              </a:rPr>
              <a:t>Дизайн рекламы (буклеты, ценники, </a:t>
            </a:r>
            <a:r>
              <a:rPr lang="en-US" altLang="en-US" sz="2800">
                <a:solidFill>
                  <a:schemeClr val="tx1"/>
                </a:solidFill>
              </a:rPr>
              <a:t>POS</a:t>
            </a:r>
            <a:r>
              <a:rPr lang="ru-RU" altLang="en-US" sz="2800">
                <a:solidFill>
                  <a:schemeClr val="tx1"/>
                </a:solidFill>
              </a:rPr>
              <a:t>)</a:t>
            </a:r>
            <a:endParaRPr lang="ru-RU" altLang="en-US" sz="2800">
              <a:solidFill>
                <a:schemeClr val="tx1"/>
              </a:solidFill>
            </a:endParaRPr>
          </a:p>
          <a:p>
            <a:pPr lvl="0"/>
            <a:r>
              <a:rPr lang="ru-RU" altLang="en-US" sz="2800">
                <a:solidFill>
                  <a:schemeClr val="tx1"/>
                </a:solidFill>
              </a:rPr>
              <a:t>Отбор 3-х пилотных магазинов</a:t>
            </a:r>
            <a:endParaRPr lang="ru-RU" altLang="en-US" sz="2800">
              <a:solidFill>
                <a:schemeClr val="tx1"/>
              </a:solidFill>
            </a:endParaRPr>
          </a:p>
          <a:p>
            <a:pPr lvl="0"/>
            <a:r>
              <a:rPr lang="ru-RU" altLang="en-US" sz="2800">
                <a:solidFill>
                  <a:schemeClr val="tx1"/>
                </a:solidFill>
              </a:rPr>
              <a:t>Бюджетирование (лимит 550 тыс. руб.)</a:t>
            </a:r>
            <a:endParaRPr lang="ru-RU" altLang="en-US" sz="2800">
              <a:solidFill>
                <a:schemeClr val="tx1"/>
              </a:solidFill>
            </a:endParaRPr>
          </a:p>
          <a:p>
            <a:pPr lvl="0"/>
            <a:r>
              <a:rPr lang="ru-RU" altLang="en-US" sz="2800">
                <a:solidFill>
                  <a:schemeClr val="tx1"/>
                </a:solidFill>
              </a:rPr>
              <a:t>Формирование команды и матрциы ответственности</a:t>
            </a:r>
            <a:endParaRPr lang="ru-RU" altLang="en-US" sz="2800">
              <a:solidFill>
                <a:schemeClr val="tx1"/>
              </a:solidFill>
            </a:endParaRPr>
          </a:p>
          <a:p>
            <a:pPr lvl="0"/>
            <a:endParaRPr lang="ru-RU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Поэтапное планирование 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 sz="2800">
                <a:solidFill>
                  <a:schemeClr val="tx1"/>
                </a:solidFill>
              </a:rPr>
              <a:t>Пилотный запуск и обучение персонала</a:t>
            </a:r>
            <a:endParaRPr lang="ru-RU" altLang="en-US" sz="2800">
              <a:solidFill>
                <a:schemeClr val="tx1"/>
              </a:solidFill>
            </a:endParaRPr>
          </a:p>
          <a:p>
            <a:r>
              <a:rPr lang="ru-RU" altLang="en-US" sz="2800">
                <a:solidFill>
                  <a:schemeClr val="tx1"/>
                </a:solidFill>
              </a:rPr>
              <a:t>Экспресс-анализ резульатов пилота</a:t>
            </a:r>
            <a:endParaRPr lang="ru-RU" altLang="en-US" sz="2800">
              <a:solidFill>
                <a:schemeClr val="tx1"/>
              </a:solidFill>
            </a:endParaRPr>
          </a:p>
          <a:p>
            <a:r>
              <a:rPr lang="ru-RU" altLang="en-US" sz="2800">
                <a:solidFill>
                  <a:schemeClr val="tx1"/>
                </a:solidFill>
              </a:rPr>
              <a:t>Корректировка механик и контроль бюджета</a:t>
            </a:r>
            <a:endParaRPr lang="ru-RU" altLang="en-US" sz="2800">
              <a:solidFill>
                <a:schemeClr val="tx1"/>
              </a:solidFill>
            </a:endParaRPr>
          </a:p>
          <a:p>
            <a:pPr marL="800100" lvl="1" indent="-342900">
              <a:buAutoNum type="arabicPeriod"/>
            </a:pPr>
            <a:r>
              <a:rPr lang="ru-RU" altLang="en-US" sz="2800">
                <a:solidFill>
                  <a:schemeClr val="tx1"/>
                </a:solidFill>
              </a:rPr>
              <a:t>Анализ затрат</a:t>
            </a:r>
            <a:endParaRPr lang="ru-RU" altLang="en-US" sz="2800">
              <a:solidFill>
                <a:schemeClr val="tx1"/>
              </a:solidFill>
            </a:endParaRPr>
          </a:p>
          <a:p>
            <a:pPr marL="800100" lvl="1" indent="-342900">
              <a:buAutoNum type="arabicPeriod"/>
            </a:pPr>
            <a:r>
              <a:rPr lang="ru-RU" altLang="en-US" sz="2800">
                <a:solidFill>
                  <a:schemeClr val="tx1"/>
                </a:solidFill>
              </a:rPr>
              <a:t>Внесение изменений в акции</a:t>
            </a:r>
            <a:r>
              <a:rPr lang="en-US" altLang="en-US" sz="2800">
                <a:solidFill>
                  <a:schemeClr val="tx1"/>
                </a:solidFill>
              </a:rPr>
              <a:t>/</a:t>
            </a:r>
            <a:r>
              <a:rPr lang="ru-RU" altLang="en-US" sz="2800">
                <a:solidFill>
                  <a:schemeClr val="tx1"/>
                </a:solidFill>
              </a:rPr>
              <a:t>дизайн</a:t>
            </a:r>
            <a:endParaRPr lang="ru-RU" altLang="en-US" sz="2800">
              <a:solidFill>
                <a:schemeClr val="tx1"/>
              </a:solidFill>
            </a:endParaRPr>
          </a:p>
          <a:p>
            <a:pPr lvl="0"/>
            <a:r>
              <a:rPr lang="ru-RU" altLang="en-US" sz="2800">
                <a:solidFill>
                  <a:schemeClr val="tx1"/>
                </a:solidFill>
              </a:rPr>
              <a:t>Масштабирование на все магазины Самары</a:t>
            </a:r>
            <a:endParaRPr lang="ru-RU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Оценка и завершение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 sz="2800">
                <a:solidFill>
                  <a:schemeClr val="tx1"/>
                </a:solidFill>
              </a:rPr>
              <a:t>Итоговый замер </a:t>
            </a:r>
            <a:r>
              <a:rPr lang="en-US" altLang="en-US" sz="2800">
                <a:solidFill>
                  <a:schemeClr val="tx1"/>
                </a:solidFill>
              </a:rPr>
              <a:t>KPI</a:t>
            </a:r>
            <a:r>
              <a:rPr lang="ru-RU" altLang="en-US" sz="2800">
                <a:solidFill>
                  <a:schemeClr val="tx1"/>
                </a:solidFill>
              </a:rPr>
              <a:t>(доля рынка, оборот)</a:t>
            </a:r>
            <a:endParaRPr lang="ru-RU" altLang="en-US" sz="2800">
              <a:solidFill>
                <a:schemeClr val="tx1"/>
              </a:solidFill>
            </a:endParaRPr>
          </a:p>
          <a:p>
            <a:r>
              <a:rPr lang="ru-RU" altLang="en-US" sz="2800">
                <a:solidFill>
                  <a:schemeClr val="tx1"/>
                </a:solidFill>
              </a:rPr>
              <a:t>Финансовый аудит и расчёт </a:t>
            </a:r>
            <a:r>
              <a:rPr lang="en-US" altLang="en-US" sz="2800">
                <a:solidFill>
                  <a:schemeClr val="tx1"/>
                </a:solidFill>
              </a:rPr>
              <a:t>ROI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ru-RU" altLang="en-US" sz="2800">
                <a:solidFill>
                  <a:schemeClr val="tx1"/>
                </a:solidFill>
              </a:rPr>
              <a:t>Итоговый отчёт</a:t>
            </a:r>
            <a:endParaRPr lang="ru-RU" altLang="en-US" sz="2800">
              <a:solidFill>
                <a:schemeClr val="tx1"/>
              </a:solidFill>
            </a:endParaRPr>
          </a:p>
          <a:p>
            <a:r>
              <a:rPr lang="ru-RU" altLang="en-US" sz="2800">
                <a:solidFill>
                  <a:schemeClr val="tx1"/>
                </a:solidFill>
              </a:rPr>
              <a:t>Рекоммендации для Тольятти и Новокуйбышевска</a:t>
            </a:r>
            <a:endParaRPr lang="ru-RU" altLang="en-US" sz="2800">
              <a:solidFill>
                <a:schemeClr val="tx1"/>
              </a:solidFill>
            </a:endParaRPr>
          </a:p>
          <a:p>
            <a:r>
              <a:rPr lang="ru-RU" altLang="en-US" sz="2800">
                <a:solidFill>
                  <a:schemeClr val="tx1"/>
                </a:solidFill>
              </a:rPr>
              <a:t>Закрытие проекта и роспуск программы</a:t>
            </a:r>
            <a:endParaRPr lang="ru-RU" altLang="en-US" sz="2800">
              <a:solidFill>
                <a:schemeClr val="tx1"/>
              </a:solidFill>
            </a:endParaRPr>
          </a:p>
          <a:p>
            <a:endParaRPr lang="ru-RU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Интеграция в операционную деятельность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ru-RU" altLang="en-US" sz="2800">
                <a:solidFill>
                  <a:schemeClr val="tx1"/>
                </a:solidFill>
              </a:rPr>
              <a:t>Закрепление ответственности</a:t>
            </a:r>
            <a:endParaRPr lang="ru-RU" altLang="en-US" sz="2800">
              <a:solidFill>
                <a:schemeClr val="tx1"/>
              </a:solidFill>
            </a:endParaRPr>
          </a:p>
          <a:p>
            <a:r>
              <a:rPr lang="ru-RU" altLang="en-US" sz="2800">
                <a:solidFill>
                  <a:schemeClr val="tx1"/>
                </a:solidFill>
              </a:rPr>
              <a:t>Система регулярной отчётности</a:t>
            </a:r>
            <a:endParaRPr lang="ru-RU" altLang="en-US" sz="2800">
              <a:solidFill>
                <a:schemeClr val="tx1"/>
              </a:solidFill>
            </a:endParaRPr>
          </a:p>
          <a:p>
            <a:r>
              <a:rPr lang="ru-RU" altLang="en-US" sz="2800">
                <a:solidFill>
                  <a:schemeClr val="tx1"/>
                </a:solidFill>
              </a:rPr>
              <a:t>Выборочный операционный аудит</a:t>
            </a:r>
            <a:endParaRPr lang="ru-RU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608385"/>
          <a:ext cx="10968990" cy="1036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798"/>
                <a:gridCol w="2193798"/>
                <a:gridCol w="2193799"/>
                <a:gridCol w="2193797"/>
                <a:gridCol w="2193798"/>
              </a:tblGrid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№ работы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Название работы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Длительность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Стоимость (руб.)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Виды затрат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1.1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Анализ маркетинга "Магнит" и "Пятёрочка"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1 нед.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Внутренние ресурсы (штатный маркетолог)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1.2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Анализ причин ухода и структуры корзины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1 нед.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Внутренние ресурсы (анализ данных кассы)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2.1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Разработка механик лояльности, акций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1 нед.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Внутренние ресурсы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2.2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Дизайн рекламы (буклеты, ценники, POS)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2 нед.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50 000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Прямые: Оплата услуг дизайнера/типографии за макеты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2.3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Критериальный отбор 2-3 пилотных магазинов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1 нед.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Внутренние ресурсы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2.4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Бюджетирование и составление сметы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1 нед.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Внутренние ресурсы (Главный бухгалтер)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2.5</a:t>
                      </a:r>
                      <a:endParaRPr lang="ru-RU" altLang="en-US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Формирование команды и матрицы ответственности</a:t>
                      </a:r>
                      <a:endParaRPr lang="ru-RU" altLang="en-US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1 нед</a:t>
                      </a:r>
                      <a:endParaRPr lang="ru-RU" altLang="en-US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0</a:t>
                      </a:r>
                      <a:endParaRPr lang="ru-RU" altLang="en-US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Внутренние ресурсы</a:t>
                      </a:r>
                      <a:endParaRPr lang="ru-RU" altLang="en-US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3.1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Пилотный запуск и обучение персонала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4</a:t>
                      </a: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 нед.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150 000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Прямые: Печать тиража для 3 магазинов, промо-фонд (скидки)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3.2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Экспресс-анализ результатов пилота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1 нед.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Внутренние ресурсы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3.3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Корректировка механик и контроль бюджета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1 нед.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Внутренние ресурсы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3.4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Масштабирование на все 15 магазинов Самары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4 нед.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250 000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Прямые: Массовая полиграфия (буклеты, ценники) и логистика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608385"/>
          <a:ext cx="1096899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25"/>
                <a:gridCol w="2193925"/>
                <a:gridCol w="2193290"/>
                <a:gridCol w="2193925"/>
                <a:gridCol w="2193925"/>
              </a:tblGrid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№ п</a:t>
                      </a:r>
                      <a:r>
                        <a:rPr lang="en-US" altLang="en-US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/</a:t>
                      </a:r>
                      <a:r>
                        <a:rPr lang="ru-RU" altLang="en-US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п</a:t>
                      </a:r>
                      <a:endParaRPr lang="ru-RU" altLang="en-US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Наименование работы</a:t>
                      </a:r>
                      <a:endParaRPr lang="ru-RU" altLang="en-US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Длительность работы</a:t>
                      </a:r>
                      <a:endParaRPr lang="ru-RU" altLang="en-US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Стоимость работы</a:t>
                      </a:r>
                      <a:endParaRPr lang="ru-RU" altLang="en-US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Виды затрат</a:t>
                      </a:r>
                      <a:endParaRPr lang="ru-RU" altLang="en-US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4.</a:t>
                      </a:r>
                      <a:r>
                        <a:rPr lang="ru-RU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1</a:t>
                      </a:r>
                      <a:endParaRPr lang="ru-RU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Итоговый замер KPI (доля рынка, оборот)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1 нед.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Внутренние ресурсы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4.</a:t>
                      </a:r>
                      <a:r>
                        <a:rPr lang="ru-RU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2</a:t>
                      </a:r>
                      <a:endParaRPr lang="ru-RU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Финансовый аудит и </a:t>
                      </a:r>
                      <a:r>
                        <a:rPr lang="ru-RU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расчёт</a:t>
                      </a: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 ROI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1 нед.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80 000</a:t>
                      </a:r>
                      <a:endParaRPr lang="ru-RU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Прямые: Премирование проектной команды за достижение KPI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4.3</a:t>
                      </a:r>
                      <a:endParaRPr lang="ru-RU" altLang="en-US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Итоговый отчёт</a:t>
                      </a:r>
                      <a:endParaRPr lang="ru-RU" altLang="en-US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1 нед.</a:t>
                      </a:r>
                      <a:endParaRPr lang="ru-RU" altLang="en-US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20 000</a:t>
                      </a:r>
                      <a:endParaRPr lang="ru-RU" altLang="en-US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ru-RU" altLang="en-US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Прямые</a:t>
                      </a:r>
                      <a:r>
                        <a:rPr lang="en-US" altLang="ru-RU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:</a:t>
                      </a:r>
                      <a:r>
                        <a:rPr lang="ru-RU" altLang="ru-RU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 Оплата услуг дизайнера(добавление инфографики)</a:t>
                      </a:r>
                      <a:endParaRPr lang="ru-RU" altLang="ru-RU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4.</a:t>
                      </a:r>
                      <a:r>
                        <a:rPr lang="ru-RU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4</a:t>
                      </a:r>
                      <a:endParaRPr lang="ru-RU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Рекомендации для Тольятти и Новокуйбышевска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1 нед.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Внутренние ресурсы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4.</a:t>
                      </a:r>
                      <a:r>
                        <a:rPr lang="ru-RU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5</a:t>
                      </a:r>
                      <a:endParaRPr lang="ru-RU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Закрытие проекта и роспуск команды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1 нед.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Внутренние ресурсы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5.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Интеграция в операционную деятельность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Постпроект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Внутренние ресурсы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5.1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Закрепление ответственности в KPI персонала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-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Внутренние ресурсы (HR, Руководство)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5.2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Внедрение системы регулярной отчетности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-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Внутренние ресурсы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5.3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Выборочный операционный аудит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-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Внутренние ресурсы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endParaRPr sz="1400">
                        <a:latin typeface="+mj-lt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ИТОГО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ru-RU"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21 нед.</a:t>
                      </a:r>
                      <a:endParaRPr lang="ru-RU"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550 000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400" b="0" i="0">
                          <a:solidFill>
                            <a:srgbClr val="222222"/>
                          </a:solidFill>
                          <a:latin typeface="+mj-lt"/>
                          <a:ea typeface="system-ui"/>
                          <a:cs typeface="+mj-lt"/>
                        </a:rPr>
                        <a:t>Только прямые проектные расходы</a:t>
                      </a:r>
                      <a:endParaRPr sz="1400" b="0" i="0">
                        <a:solidFill>
                          <a:srgbClr val="222222"/>
                        </a:solidFill>
                        <a:latin typeface="+mj-lt"/>
                        <a:ea typeface="system-ui"/>
                        <a:cs typeface="+mj-lt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2988</Words>
  <Application>WPS Presentation</Application>
  <PresentationFormat>Widescreen</PresentationFormat>
  <Paragraphs>278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Times New Roman</vt:lpstr>
      <vt:lpstr>system-ui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ИСР</dc:title>
  <dc:creator>User</dc:creator>
  <cp:lastModifiedBy>DokToP BoT</cp:lastModifiedBy>
  <cp:revision>3</cp:revision>
  <dcterms:created xsi:type="dcterms:W3CDTF">2026-10-22T12:57:46Z</dcterms:created>
  <dcterms:modified xsi:type="dcterms:W3CDTF">2026-10-22T12:59:03Z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3EC81A43C224408BA102523157008547_11</vt:lpwstr>
  </property>
</Properties>
</file>